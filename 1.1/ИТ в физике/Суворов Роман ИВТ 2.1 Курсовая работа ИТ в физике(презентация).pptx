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3"/>
    <p:sldId id="257" r:id="rId4"/>
    <p:sldId id="260" r:id="rId5"/>
    <p:sldId id="258" r:id="rId6"/>
    <p:sldId id="266" r:id="rId7"/>
    <p:sldId id="259" r:id="rId8"/>
    <p:sldId id="271" r:id="rId9"/>
    <p:sldId id="262" r:id="rId10"/>
    <p:sldId id="263" r:id="rId11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handoutMaster" Target="handoutMasters/handoutMaster1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oleObject" Target="&#1050;&#1085;&#1080;&#1075;&#1072;1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oleObject" Target="&#1050;&#1085;&#1080;&#1075;&#1072;1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ru-RU"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t>Зависимость массы от изменения максимальной нагрузки на цепь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796666666666667"/>
          <c:y val="0.254861111111111"/>
          <c:w val="0.888388888888889"/>
          <c:h val="0.633194444444445"/>
        </c:manualLayout>
      </c:layout>
      <c:lineChart>
        <c:grouping val="stacke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delete val="1"/>
          </c:dLbls>
          <c:val>
            <c:numRef>
              <c:f>[Книга1]Лист1!$F$3:$J$3</c:f>
              <c:numCache>
                <c:formatCode>0.0</c:formatCode>
                <c:ptCount val="5"/>
                <c:pt idx="0">
                  <c:v>5</c:v>
                </c:pt>
                <c:pt idx="1">
                  <c:v>7.5</c:v>
                </c:pt>
                <c:pt idx="2">
                  <c:v>10</c:v>
                </c:pt>
                <c:pt idx="3">
                  <c:v>12.5</c:v>
                </c:pt>
                <c:pt idx="4">
                  <c:v>15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90055755"/>
        <c:axId val="986414209"/>
      </c:lineChart>
      <c:catAx>
        <c:axId val="590055755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ru-RU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986414209"/>
        <c:crosses val="autoZero"/>
        <c:auto val="1"/>
        <c:lblAlgn val="ctr"/>
        <c:lblOffset val="100"/>
        <c:noMultiLvlLbl val="0"/>
      </c:catAx>
      <c:valAx>
        <c:axId val="98641420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ru-RU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9005575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ru-RU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ru-RU"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t>Зависимость массы от изменения максимального угла</a:t>
            </a:r>
          </a:p>
        </c:rich>
      </c:tx>
      <c:layout>
        <c:manualLayout>
          <c:xMode val="edge"/>
          <c:yMode val="edge"/>
          <c:x val="0.194252136752136"/>
          <c:y val="0.0215101500748634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delete val="1"/>
          </c:dLbls>
          <c:val>
            <c:numRef>
              <c:f>[Книга1]Лист1!$F$25:$J$25</c:f>
              <c:numCache>
                <c:formatCode>0.0</c:formatCode>
                <c:ptCount val="5"/>
                <c:pt idx="0">
                  <c:v>15.7</c:v>
                </c:pt>
                <c:pt idx="1">
                  <c:v>12.6</c:v>
                </c:pt>
                <c:pt idx="2">
                  <c:v>10</c:v>
                </c:pt>
                <c:pt idx="3">
                  <c:v>8</c:v>
                </c:pt>
                <c:pt idx="4">
                  <c:v>6.7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51963542"/>
        <c:axId val="443424952"/>
      </c:lineChart>
      <c:catAx>
        <c:axId val="851963542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ru-RU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43424952"/>
        <c:crosses val="autoZero"/>
        <c:auto val="1"/>
        <c:lblAlgn val="ctr"/>
        <c:lblOffset val="100"/>
        <c:noMultiLvlLbl val="0"/>
      </c:catAx>
      <c:valAx>
        <c:axId val="4434249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ru-RU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85196354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ru-RU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chart" Target="../charts/chart2.xml"/><Relationship Id="rId1" Type="http://schemas.openxmlformats.org/officeDocument/2006/relationships/chart" Target="../charts/char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3200"/>
              <a:t>Исследование динамики материальной точки</a:t>
            </a:r>
            <a:br>
              <a:rPr lang="en-US" sz="3200"/>
            </a:br>
            <a:r>
              <a:rPr lang="en-US" sz="3200"/>
              <a:t>с использованием информационных технологий</a:t>
            </a:r>
            <a:endParaRPr lang="en-US" sz="320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20000"/>
          </a:bodyPr>
          <a:lstStyle/>
          <a:p>
            <a:r>
              <a:rPr lang="ru-RU" altLang="en-US"/>
              <a:t>выполнил Суворов Роман ИВТ 2.1</a:t>
            </a:r>
            <a:endParaRPr lang="ru-RU" altLang="en-US"/>
          </a:p>
          <a:p>
            <a:endParaRPr lang="ru-RU" altLang="en-US"/>
          </a:p>
          <a:p>
            <a:endParaRPr lang="ru-RU" altLang="en-US"/>
          </a:p>
          <a:p>
            <a:r>
              <a:rPr lang="ru-RU" altLang="en-US"/>
              <a:t>2022</a:t>
            </a:r>
            <a:endParaRPr lang="ru-RU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ru-RU" altLang="en-US"/>
              <a:t>Введение</a:t>
            </a: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pPr algn="just"/>
            <a:r>
              <a:rPr lang="ru-RU" altLang="en-US"/>
              <a:t>В данной курсовой работе будет рассмотрен эксперимент по исследованию динамики материальной точки, возможного угла наклона. Измерения будут проведены с учётом таких факторов как: масса груза, максимальная сила натяжения нити.</a:t>
            </a:r>
            <a:endParaRPr lang="ru-RU" altLang="en-US"/>
          </a:p>
          <a:p>
            <a:r>
              <a:rPr lang="ru-RU" altLang="en-US"/>
              <a:t>	     </a:t>
            </a:r>
            <a:endParaRPr lang="ru-RU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ru-RU" altLang="en-US"/>
              <a:t>Постановка задачи</a:t>
            </a: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ru-RU" altLang="en-US"/>
              <a:t>Реализовать программу, вычисляющую по максимально возможной нагрузке на цепь и углу наклона груза максимальную массу груза</a:t>
            </a:r>
            <a:endParaRPr lang="ru-RU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ru-RU" altLang="en-US"/>
              <a:t>Цели и задачи</a:t>
            </a: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ru-RU" altLang="en-US"/>
              <a:t>1)Изучить литературу по теме</a:t>
            </a:r>
            <a:endParaRPr lang="ru-RU" altLang="en-US"/>
          </a:p>
          <a:p>
            <a:r>
              <a:rPr lang="ru-RU" altLang="en-US"/>
              <a:t>2)Рассмотреть математическую модель </a:t>
            </a:r>
            <a:endParaRPr lang="ru-RU" altLang="en-US"/>
          </a:p>
          <a:p>
            <a:r>
              <a:rPr lang="ru-RU" altLang="en-US"/>
              <a:t>3)Реализовать решение задач и провести вычислительный эксперимент посредством программного кода</a:t>
            </a:r>
            <a:endParaRPr lang="ru-RU" altLang="en-US"/>
          </a:p>
          <a:p>
            <a:r>
              <a:rPr lang="ru-RU" altLang="en-US"/>
              <a:t>4) провести исследовательскую работу посредством электронных таблиц</a:t>
            </a:r>
            <a:endParaRPr lang="ru-RU" altLang="en-US"/>
          </a:p>
          <a:p>
            <a:r>
              <a:rPr lang="ru-RU" altLang="en-US"/>
              <a:t>5)Сделать выводы</a:t>
            </a:r>
            <a:endParaRPr lang="ru-RU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ru-RU" altLang="en-US"/>
              <a:t>постановка физической задачи</a:t>
            </a:r>
            <a:endParaRPr lang="ru-RU" altLang="en-US"/>
          </a:p>
        </p:txBody>
      </p:sp>
      <p:sp>
        <p:nvSpPr>
          <p:cNvPr id="5" name="Замещающее содержимое 4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402580" cy="4351655"/>
          </a:xfrm>
        </p:spPr>
        <p:txBody>
          <a:bodyPr>
            <a:normAutofit fontScale="80000"/>
          </a:bodyPr>
          <a:p>
            <a:r>
              <a:rPr lang="ru-RU" altLang="en-US"/>
              <a:t>Для написания программы была проведена работа по моделированию задачи и выводу формул:</a:t>
            </a:r>
            <a:endParaRPr lang="ru-RU" altLang="en-US"/>
          </a:p>
          <a:p>
            <a:r>
              <a:rPr lang="ru-RU" altLang="en-US"/>
              <a:t>Условия задачи: Какой максимальный вес груза можно взять, чтобы цепь, выдерживающая нагрузку 200Н, не оборвалась при отклонении груза на 60 градусов и его последующих колебаниях?</a:t>
            </a:r>
            <a:endParaRPr lang="ru-RU" altLang="en-US"/>
          </a:p>
        </p:txBody>
      </p:sp>
      <p:pic>
        <p:nvPicPr>
          <p:cNvPr id="7" name="Изображение 2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7950200" y="1501775"/>
            <a:ext cx="2934335" cy="30518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Изображение 99"/>
          <p:cNvPicPr/>
          <p:nvPr/>
        </p:nvPicPr>
        <p:blipFill>
          <a:blip r:embed="rId2"/>
          <a:stretch>
            <a:fillRect/>
          </a:stretch>
        </p:blipFill>
        <p:spPr>
          <a:xfrm>
            <a:off x="8263255" y="5263515"/>
            <a:ext cx="2308225" cy="6286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Текстовое поле 5"/>
          <p:cNvSpPr txBox="1"/>
          <p:nvPr/>
        </p:nvSpPr>
        <p:spPr>
          <a:xfrm>
            <a:off x="8190230" y="4495800"/>
            <a:ext cx="245491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ru-RU" altLang="en-US"/>
              <a:t>Рис.1 (расстановка сил)</a:t>
            </a:r>
            <a:endParaRPr lang="ru-RU" altLang="en-US"/>
          </a:p>
        </p:txBody>
      </p:sp>
      <p:sp>
        <p:nvSpPr>
          <p:cNvPr id="8" name="Текстовое поле 7"/>
          <p:cNvSpPr txBox="1"/>
          <p:nvPr/>
        </p:nvSpPr>
        <p:spPr>
          <a:xfrm>
            <a:off x="8144510" y="5974080"/>
            <a:ext cx="292417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ru-RU" altLang="en-US"/>
              <a:t>Рис.2(выведенная формула)</a:t>
            </a:r>
            <a:endParaRPr lang="ru-RU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ru-RU" altLang="en-US"/>
              <a:t>Результаты выполнения задачи</a:t>
            </a: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272405" cy="4351655"/>
          </a:xfrm>
        </p:spPr>
        <p:txBody>
          <a:bodyPr>
            <a:normAutofit fontScale="80000"/>
          </a:bodyPr>
          <a:p>
            <a:r>
              <a:rPr lang="ru-RU" altLang="en-US"/>
              <a:t>В результате выполнения курсовой работы была написана программа вычисляющая максимальный возможный вес груза по максимальной возможной нагрузке на цепь и углу на который груз поднят. Результат работы данной программы можно увидеть на рис. 3  и рис. 4.</a:t>
            </a:r>
            <a:endParaRPr lang="ru-RU" altLang="en-US"/>
          </a:p>
        </p:txBody>
      </p:sp>
      <p:pic>
        <p:nvPicPr>
          <p:cNvPr id="4" name="Изображение 1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6416040" y="1715135"/>
            <a:ext cx="5181600" cy="136525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Текстовое поле 4"/>
          <p:cNvSpPr txBox="1"/>
          <p:nvPr/>
        </p:nvSpPr>
        <p:spPr>
          <a:xfrm>
            <a:off x="7105650" y="3080385"/>
            <a:ext cx="380174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ru-RU" altLang="en-US"/>
              <a:t>Рис. 3 (результат работы программы)</a:t>
            </a:r>
            <a:endParaRPr lang="ru-RU" altLang="en-US"/>
          </a:p>
        </p:txBody>
      </p:sp>
      <p:pic>
        <p:nvPicPr>
          <p:cNvPr id="6" name="Изображение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8443" y="3796983"/>
            <a:ext cx="2296795" cy="228917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Текстовое поле 6"/>
          <p:cNvSpPr txBox="1"/>
          <p:nvPr/>
        </p:nvSpPr>
        <p:spPr>
          <a:xfrm>
            <a:off x="6549390" y="6177280"/>
            <a:ext cx="491363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ru-RU" altLang="en-US"/>
              <a:t>Рис. 4 (визуализация выполненная программой)</a:t>
            </a:r>
            <a:endParaRPr lang="ru-RU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pPr algn="ctr"/>
            <a:r>
              <a:rPr lang="ru-RU" altLang="en-US"/>
              <a:t>Исследование Графиков Зависимости</a:t>
            </a:r>
            <a:endParaRPr lang="ru-RU" altLang="en-US"/>
          </a:p>
        </p:txBody>
      </p:sp>
      <p:sp>
        <p:nvSpPr>
          <p:cNvPr id="5" name="Замещающее содержимое 4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p>
            <a:r>
              <a:rPr lang="ru-RU" altLang="en-US" sz="2100"/>
              <a:t>Был проведен исследовательский эксперемент по зависимости получаемого ответа от изменения исходных данных.</a:t>
            </a:r>
            <a:endParaRPr lang="ru-RU" altLang="en-US" sz="2100"/>
          </a:p>
          <a:p>
            <a:r>
              <a:rPr lang="ru-RU" altLang="en-US" sz="2100"/>
              <a:t>По рисунку 5 видно, что зависимость массы от максимальной нагрузки на цепь прямая и линейная.</a:t>
            </a:r>
            <a:endParaRPr lang="ru-RU" altLang="en-US" sz="2100"/>
          </a:p>
          <a:p>
            <a:r>
              <a:rPr lang="ru-RU" altLang="en-US" sz="2100"/>
              <a:t>По рисунку 6 видно, что зависимость максимальной массы от изменения максимального угла обратная нелинейная.</a:t>
            </a:r>
            <a:endParaRPr lang="ru-RU" altLang="en-US" sz="2100"/>
          </a:p>
        </p:txBody>
      </p:sp>
      <p:graphicFrame>
        <p:nvGraphicFramePr>
          <p:cNvPr id="6" name="Диаграмма 1"/>
          <p:cNvGraphicFramePr/>
          <p:nvPr>
            <p:ph sz="half" idx="2"/>
          </p:nvPr>
        </p:nvGraphicFramePr>
        <p:xfrm>
          <a:off x="7510780" y="1584325"/>
          <a:ext cx="3652520" cy="20707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8" name="Диаграмма 2"/>
          <p:cNvGraphicFramePr/>
          <p:nvPr/>
        </p:nvGraphicFramePr>
        <p:xfrm>
          <a:off x="7510780" y="4422775"/>
          <a:ext cx="3651885" cy="1844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Текстовое поле 6"/>
          <p:cNvSpPr txBox="1"/>
          <p:nvPr/>
        </p:nvSpPr>
        <p:spPr>
          <a:xfrm>
            <a:off x="8988425" y="3855085"/>
            <a:ext cx="69659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ru-RU" altLang="en-US"/>
              <a:t>рис.5</a:t>
            </a:r>
            <a:endParaRPr lang="ru-RU" altLang="en-US"/>
          </a:p>
        </p:txBody>
      </p:sp>
      <p:sp>
        <p:nvSpPr>
          <p:cNvPr id="9" name="Текстовое поле 8"/>
          <p:cNvSpPr txBox="1"/>
          <p:nvPr/>
        </p:nvSpPr>
        <p:spPr>
          <a:xfrm>
            <a:off x="8988425" y="6494145"/>
            <a:ext cx="69659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ru-RU" altLang="en-US"/>
              <a:t>рис.6</a:t>
            </a:r>
            <a:endParaRPr lang="ru-RU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ru-RU" altLang="en-US"/>
              <a:t>Вывод</a:t>
            </a:r>
            <a:endParaRPr lang="ru-RU" altLang="en-US"/>
          </a:p>
        </p:txBody>
      </p:sp>
      <p:sp>
        <p:nvSpPr>
          <p:cNvPr id="5" name="Замещающее содержимое 4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ru-RU" altLang="en-US"/>
              <a:t>В ходе выполнения лабораторной работы были изучены и решены следующие задачи:</a:t>
            </a:r>
            <a:endParaRPr lang="ru-RU" altLang="en-US"/>
          </a:p>
          <a:p>
            <a:r>
              <a:rPr lang="ru-RU" altLang="en-US"/>
              <a:t>1.Была изучена тема динамики материальной точки</a:t>
            </a:r>
            <a:endParaRPr lang="ru-RU" altLang="en-US"/>
          </a:p>
          <a:p>
            <a:r>
              <a:rPr lang="ru-RU" altLang="en-US"/>
              <a:t>2.Средствами языка программирования Python был проведён вычислительный эксперимент </a:t>
            </a:r>
            <a:endParaRPr lang="ru-RU" altLang="en-US"/>
          </a:p>
          <a:p>
            <a:r>
              <a:rPr lang="ru-RU" altLang="en-US"/>
              <a:t>3.Средствами языка программирования Python была получена визуализация решения</a:t>
            </a:r>
            <a:endParaRPr lang="ru-RU" altLang="en-US"/>
          </a:p>
          <a:p>
            <a:r>
              <a:rPr lang="ru-RU" altLang="en-US"/>
              <a:t>4.Средствами электронных таблиц был проведён вычислительный эксперимент</a:t>
            </a:r>
            <a:endParaRPr lang="ru-RU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ru-RU" altLang="en-US"/>
              <a:t>Список литературы</a:t>
            </a:r>
            <a:endParaRPr lang="ru-RU" altLang="en-US"/>
          </a:p>
        </p:txBody>
      </p:sp>
      <p:sp>
        <p:nvSpPr>
          <p:cNvPr id="5" name="Замещающее содержимое 4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20000"/>
          </a:bodyPr>
          <a:p>
            <a:r>
              <a:rPr lang="ru-RU" altLang="en-US"/>
              <a:t>1.Сборник задач по физике: URL:https://pstu.ru/files/2/file/kafedra/fpmm/of/Zverev._Sbornik_zadach_po_fizike.pdf (дата обращения: 01.12.2022)</a:t>
            </a:r>
            <a:endParaRPr lang="ru-RU" altLang="en-US"/>
          </a:p>
          <a:p>
            <a:r>
              <a:rPr lang="ru-RU" altLang="en-US"/>
              <a:t>2.Динамика материальной точки: URL:https://swsu.ru/structura/up/ftd/tmim/teor-mekh/m01.pdf (дата обращения: 01.12.2022)</a:t>
            </a:r>
            <a:endParaRPr lang="ru-RU" altLang="en-US"/>
          </a:p>
          <a:p>
            <a:r>
              <a:rPr lang="ru-RU" altLang="en-US"/>
              <a:t>3.Wikipedia.org:URL:https://ru.wikipedia.org/wiki/Динамика_точки (дата обращения: 01.12.2022)</a:t>
            </a:r>
            <a:endParaRPr lang="ru-RU" altLang="en-US"/>
          </a:p>
          <a:p>
            <a:r>
              <a:rPr lang="ru-RU" altLang="en-US"/>
              <a:t>4.Pythonru: URL: https://pythonru.com/uroki/python-pip-uroki-po-python-dlja-nachinajushhih (дата обращения: 02.12.2022)</a:t>
            </a:r>
            <a:endParaRPr lang="ru-RU" altLang="en-US"/>
          </a:p>
          <a:p>
            <a:r>
              <a:rPr lang="ru-RU" altLang="en-US"/>
              <a:t>5.Pillow: URL: https://pillow.readthedocs.io/en/stable/handbook/tutorial.html (дата обращения 02.12.2022)</a:t>
            </a:r>
            <a:endParaRPr lang="ru-RU" altLang="en-US"/>
          </a:p>
          <a:p>
            <a:r>
              <a:rPr lang="ru-RU" altLang="en-US"/>
              <a:t>6.Habr: URL: https://habr.com/ru/post/49361/ (дата обращения 02.12.2022)</a:t>
            </a:r>
            <a:endParaRPr lang="ru-RU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2823</Words>
  <Application>WPS Presentation</Application>
  <PresentationFormat>宽屏</PresentationFormat>
  <Paragraphs>68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Arial</vt:lpstr>
      <vt:lpstr>SimSun</vt:lpstr>
      <vt:lpstr>Wingdings</vt:lpstr>
      <vt:lpstr>Calibri Light</vt:lpstr>
      <vt:lpstr>Microsoft YaHei</vt:lpstr>
      <vt:lpstr>Arial Unicode MS</vt:lpstr>
      <vt:lpstr>Calibri</vt:lpstr>
      <vt:lpstr>Office Theme</vt:lpstr>
      <vt:lpstr>Исследование динамики материальной точки с использованием информационных технологий</vt:lpstr>
      <vt:lpstr>Введение</vt:lpstr>
      <vt:lpstr>Постановка задачи</vt:lpstr>
      <vt:lpstr>Цели и задачи</vt:lpstr>
      <vt:lpstr>постановка физической задачи</vt:lpstr>
      <vt:lpstr>Результаты выполнения задачи</vt:lpstr>
      <vt:lpstr>Исследование Графиков Зависимости</vt:lpstr>
      <vt:lpstr>Вывод</vt:lpstr>
      <vt:lpstr>Список литературы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писька пиписька</cp:lastModifiedBy>
  <cp:revision>8</cp:revision>
  <dcterms:created xsi:type="dcterms:W3CDTF">2022-12-12T19:39:00Z</dcterms:created>
  <dcterms:modified xsi:type="dcterms:W3CDTF">2022-12-13T06:48:50Z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1049-11.2.0.11388</vt:lpwstr>
  </property>
  <property fmtid="{D5CDD505-2E9C-101B-9397-08002B2CF9AE}" pid="3" name="ICV">
    <vt:lpwstr>65E29DBC1A0F49258E887C059748A19A</vt:lpwstr>
  </property>
</Properties>
</file>