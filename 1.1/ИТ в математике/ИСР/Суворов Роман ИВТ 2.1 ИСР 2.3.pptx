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a4c4af815e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a4c4af815e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Суворов  Роман ИВТ 2.1 ВСР 2.3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1a4c4af815e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1a4c4af815e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a4c4af815e_2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a4c4af815e_2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a4c4af815e_2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1a4c4af815e_2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1a4c4af815e_2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1a4c4af815e_2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a4c4af815e_2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a4c4af815e_2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B6D7A8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039450" y="1195725"/>
            <a:ext cx="3065100" cy="661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100"/>
              <a:t>Определители</a:t>
            </a:r>
            <a:endParaRPr sz="3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Определители первого порядка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500">
                <a:solidFill>
                  <a:srgbClr val="1E2829"/>
                </a:solidFill>
                <a:highlight>
                  <a:srgbClr val="FFFFFF"/>
                </a:highlight>
              </a:rPr>
              <a:t>Матрица размера 1*1 это просто число. Определителем такой матрицы является само это число</a:t>
            </a:r>
            <a:endParaRPr sz="2400"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26025" y="1152475"/>
            <a:ext cx="771525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Определитель второго порядка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500">
                <a:solidFill>
                  <a:srgbClr val="1E2829"/>
                </a:solidFill>
                <a:highlight>
                  <a:srgbClr val="FFFFFF"/>
                </a:highlight>
              </a:rPr>
              <a:t>Определитель второго порядка (матрицы размера 2 на 2) вычисляется по правилу </a:t>
            </a:r>
            <a:endParaRPr sz="2400"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4050" y="1885675"/>
            <a:ext cx="3728475" cy="108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3575" y="1885675"/>
            <a:ext cx="3467100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1E2829"/>
                </a:solidFill>
                <a:highlight>
                  <a:srgbClr val="FFFFFF"/>
                </a:highlight>
              </a:rPr>
              <a:t>Определитель третьего порядка вычисляется по правилу:</a:t>
            </a:r>
            <a:endParaRPr sz="1500">
              <a:solidFill>
                <a:srgbClr val="1E2829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E2829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E2829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1E2829"/>
                </a:solidFill>
                <a:highlight>
                  <a:srgbClr val="FFFFFF"/>
                </a:highlight>
              </a:rPr>
              <a:t>Запомнить порядок сомножителей, конечно же, очень трудно, если не знать визуального представления этого правила, которое называется правило треугольников:</a:t>
            </a:r>
            <a:endParaRPr sz="1500">
              <a:solidFill>
                <a:srgbClr val="1E2829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E2829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rgbClr val="1E2829"/>
              </a:solidFill>
              <a:highlight>
                <a:srgbClr val="FFFFFF"/>
              </a:highlight>
            </a:endParaRPr>
          </a:p>
        </p:txBody>
      </p:sp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Определитель третьего порядка</a:t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796" y="1514471"/>
            <a:ext cx="5192774" cy="72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8788" y="3086363"/>
            <a:ext cx="2867025" cy="140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Миноры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Минором</a:t>
            </a:r>
            <a:r>
              <a:rPr lang="ru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Mij </a:t>
            </a:r>
            <a:r>
              <a:rPr i="1" lang="ru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элемента</a:t>
            </a:r>
            <a:r>
              <a:rPr lang="ru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aij матрицы An×n именуют определитель матрицы, полученной из матрицы A  вычёркиванием i-й строки и j-го столбца (т.е. строки и столбца, на пересечении которых находитс</a:t>
            </a:r>
            <a:r>
              <a:rPr lang="ru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я э</a:t>
            </a:r>
            <a:r>
              <a:rPr lang="ru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лемент aij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например минор М32 является: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4900" y="1549725"/>
            <a:ext cx="4267200" cy="18172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Свойства определителей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77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100000"/>
              <a:buFont typeface="Times New Roman"/>
              <a:buAutoNum type="arabicParenR"/>
            </a:pPr>
            <a:r>
              <a:rPr lang="ru" sz="60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Определитель транспонированной матрицы равен определителю исходной матрицы</a:t>
            </a:r>
            <a:endParaRPr sz="60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100000"/>
              <a:buFont typeface="Times New Roman"/>
              <a:buAutoNum type="arabicParenR"/>
            </a:pPr>
            <a:r>
              <a:rPr lang="ru" sz="60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Умножение всех элементов строки или столбца определителя на некоторое число λ равносильно умножееию определителя на это число</a:t>
            </a:r>
            <a:endParaRPr sz="60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100000"/>
              <a:buFont typeface="Times New Roman"/>
              <a:buAutoNum type="arabicParenR"/>
            </a:pPr>
            <a:r>
              <a:rPr lang="ru" sz="60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Если в определителе переставить местами любые две строки или два столбца, то определитель изменяет свой знак на противоположный</a:t>
            </a:r>
            <a:endParaRPr sz="60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100000"/>
              <a:buFont typeface="Times New Roman"/>
              <a:buAutoNum type="arabicParenR"/>
            </a:pPr>
            <a:r>
              <a:rPr lang="ru" sz="60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Если матрица содержит нулевую строку (столбец), то определитель этой матрицы равен нулю</a:t>
            </a:r>
            <a:endParaRPr sz="60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100000"/>
              <a:buFont typeface="Times New Roman"/>
              <a:buAutoNum type="arabicParenR"/>
            </a:pPr>
            <a:r>
              <a:rPr lang="ru" sz="60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Если две строки (столбца) матрицы равны между собой, то определитель этой матрицы равен нулю</a:t>
            </a:r>
            <a:endParaRPr sz="60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100000"/>
              <a:buFont typeface="Times New Roman"/>
              <a:buAutoNum type="arabicParenR"/>
            </a:pPr>
            <a:r>
              <a:rPr lang="ru" sz="60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Если две строки (столбца) матрицы пропорциональны друг другу, то определитель этой матрицы равен нулю</a:t>
            </a:r>
            <a:endParaRPr sz="60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100000"/>
              <a:buFont typeface="Times New Roman"/>
              <a:buAutoNum type="arabicParenR"/>
            </a:pPr>
            <a:r>
              <a:rPr lang="ru" sz="60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Определитель матрицы треугольного вида равен произведению элементов, стоящих на главной диагонали</a:t>
            </a:r>
            <a:endParaRPr sz="60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100000"/>
              <a:buFont typeface="Times New Roman"/>
              <a:buAutoNum type="arabicParenR"/>
            </a:pPr>
            <a:r>
              <a:rPr lang="ru" sz="60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Определитель не изменится, если к элементам любой его строки (или столбца) прибавить соответствующие элементы другой строки (или соответствующего столбца), умноженные на одно и тоже число</a:t>
            </a:r>
            <a:endParaRPr sz="60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B6D7A8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