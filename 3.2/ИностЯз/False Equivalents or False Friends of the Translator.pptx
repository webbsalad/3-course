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maticSC-regular.fntdata"/><Relationship Id="rId14" Type="http://schemas.openxmlformats.org/officeDocument/2006/relationships/slide" Target="slides/slide9.xml"/><Relationship Id="rId17" Type="http://schemas.openxmlformats.org/officeDocument/2006/relationships/font" Target="fonts/SourceCodePro-regular.fntdata"/><Relationship Id="rId16" Type="http://schemas.openxmlformats.org/officeDocument/2006/relationships/font" Target="fonts/AmaticSC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italic.fntdata"/><Relationship Id="rId6" Type="http://schemas.openxmlformats.org/officeDocument/2006/relationships/slide" Target="slides/slide1.xml"/><Relationship Id="rId18" Type="http://schemas.openxmlformats.org/officeDocument/2006/relationships/font" Target="fonts/SourceCode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5a7e6754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45a7e6754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5a7e6754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45a7e6754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5a7e6754e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5a7e6754e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5a7e6754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45a7e6754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5a7e6754e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5a7e6754e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5a7e6754e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5a7e6754e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5a7e6754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5a7e6754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5a7e6754e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5a7e6754e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defRPr sz="1700"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  <a:defRPr sz="12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romanLcPeriod"/>
              <a:defRPr sz="12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defRPr sz="12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  <a:defRPr sz="12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romanLcPeriod"/>
              <a:defRPr sz="12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defRPr sz="12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  <a:defRPr sz="12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romanLcPeriod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False Equivalents or False Friends of the Translator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accent2"/>
                </a:solidFill>
              </a:rPr>
              <a:t>The presentation was made by Suvorov Roman, a student of the Herzen Pedagogical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Ложные эквиваленты или Ложные друзья переводчика</a:t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презентация выполнена Суворовым Романом студентом педагогического университета им. Герцена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это?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/>
              <a:t>Похожи на русские слова</a:t>
            </a:r>
            <a:br>
              <a:rPr lang="ru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/>
              <a:t>Но значат совсем другое</a:t>
            </a:r>
            <a:br>
              <a:rPr lang="ru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/>
              <a:t>Могут ввести в заблуждение</a:t>
            </a:r>
            <a:br>
              <a:rPr lang="ru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Почему важно знать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/>
              <a:t>Ошибки перевода</a:t>
            </a:r>
            <a:br>
              <a:rPr lang="ru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/>
              <a:t>Неловкие ситуации</a:t>
            </a:r>
            <a:br>
              <a:rPr lang="ru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/>
              <a:t>Потеря смысла</a:t>
            </a:r>
            <a:br>
              <a:rPr lang="ru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b="1"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Magazine ≠ Магазин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Magazine → журнал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 ≠ Актуальный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 → фактический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 в контексте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is a very sensible person.</a:t>
            </a:r>
            <a:endParaRPr i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Неправильно: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Он очень чувствительный человек.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Правильно: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Он очень разумный человек.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3033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Вопросы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Fabric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tort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notorious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lunatic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cereal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6.	</a:t>
            </a:r>
            <a:r>
              <a:rPr lang="ru">
                <a:solidFill>
                  <a:srgbClr val="000000"/>
                </a:solidFill>
              </a:rPr>
              <a:t>Actual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7.	 kit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8.	plaster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9.	Sympathy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000000"/>
                </a:solidFill>
              </a:rPr>
              <a:t>10.	virtually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избежать ошибок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Проверяй значение в контексте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Используй англо-английские словари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Запоминай в примерах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Общайся с носителями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Читай, смотри, слушай на английском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1009000" y="1370100"/>
            <a:ext cx="7378200" cy="240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ru" sz="51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</a:t>
            </a:r>
            <a:r>
              <a:rPr lang="ru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