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Уважаемые члены аттестационной комиссии. Вашему вниманию представляется выпускная квалификационная работа на тему «Разработка телеграм-бота для управления задачами в Централизованной библиотечной системе Петроградского района». Работа выполнена студентом четвёртого курса очной формы обучения Суворовым Романом Михайловичем, по направлению подготовки 09.03.01 «Информатика и вычислительная техника», профиль «Технологии разработки программного обеспечения». Научный руководитель — доцент кафедры информационных технологий и электронного образования Жуков Николай Николаевич. Разрешите перейти к содержанию доклада.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Актуальность работы определяется существующей практикой работы инженерной службы Централизованной библиотечной системы Петроградского района. Обращения сотрудников по поводу неисправностей техники, обновления программного обеспечения и проблем с доступом к электронным ресурсам передаются неформально — через мессенджеры, телефонные звонки и устные просьбы. Такой порядок приводит к потере заявок, дублированию работы инженеров и отсутствию единой истории обращений. Существующие коммерческие системы — Jira, Trello, ServiceDesk — для бюджетного учреждения избыточны, требуют лицензионных отчислений и зачастую недоступны для приобретения. При этом сотрудники библиотек уже используют Telegram для рабочего общения, что делает его естественной точкой входа в систему регистрации заявок без необходимости устанавливать дополнительное программное обеспечение и проходить отдельное обучение.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Объектом исследования является процесс регистрации, распределения и сопровождения технических заявок сотрудников в библиотечной системе. Предметом исследования — программные методы построения микросервисных приложений на языке Go с пользовательским интерфейсом в виде Telegram-бота для управления заявками. Таким образом, в работе рассматривается как организационная сторона учёта обращений, так и архитектурные подходы к построению соответствующего программного комплекса.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Целью выпускной квалификационной работы является разработка программного комплекса на основе Telegram-бота для учёта, распределения и сопровождения технических заявок сотрудников ЦБС Петроградского района. Для достижения поставленной цели сформулированы семь задач: изучение организации работы сотрудников и формулирование требований к системе; сравнительный анализ существующих средств управления задачами; проектирование архитектуры комплекса из двух независимых сервисов; проектирование модели данных и миграций PostgreSQL; реализация серверного ядра с gRPC-интерфейсом и REST-шлюзом; реализация Telegram-бота с ролевой моделью; подготовка инфраструктуры развёртывания на базе Docker Compose и тестирование разработанного комплекса.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Проведён сравнительный анализ пяти распространённых систем учёта заявок: Jira Software, Trello, Redmine, Битрикс24 и ManageEngine ServiceDesk Plus. Анализ выполнялся по пяти критериям, существенным для рассматриваемого бюджетного учреждения: открытость исходного кода, отсутствие лицензионных отчислений, возможность развёртывания на собственной инфраструктуре, наличие встроенного Telegram-клиента и пригодность для нетехнических пользователей. Как видно из таблицы, ни одно из рассмотренных решений не отвечает одновременно всем условиям задачи: коммерческие платформы предполагают платную подписку и в части случаев недоступны для приобретения, открытые системы рассчитаны на технических специалистов, и ни одна из систем не предоставляет родного Telegram-клиента. Совокупность перечисленных факторов делает целесообразной разработку собственного программного комплекса.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основе анализа предметной области и недостатков существующих систем сформулированы требования к разрабатываемому комплексу. Функциональные требования охватывают поддержку четырёх ролей пользователей, регистрацию заявки библиотекарем по типовому шаблону или в свободной форме, назначение инженера-исполнителя администратором, изменение статуса заявки с фиксацией времени перехода, аутентификацию по электронной почте и одноразовому паролю, а также возможность подключения новых клиентских приложений и интеграции с внешним AI-сервисом. Нефункциональные требования включают использование открытых технологий, время отклика типовой операции не более двух секунд, горизонтальное масштабирование ядра, контейнеризованное развёртывание, сохранность данных при перезапуске сервисов и независимость клиентов друг от друга.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системе предусмотрены четыре роли пользователей. Библиотекарь создаёт заявки от имени своего подразделения и просматривает только свои обращения. Инженер получает назначенные на него заявки и изменяет их статус. Администратор просматривает все открытые заявки и назначает исполнителей. Особо выделена роль root-администратора, отвечающего за регистрацию учётных записей и генерацию одноразовых паролей; разделение администратора и root-администратора обусловлено требованием к разграничению прав доступа на учётные данные сотрудников. В коде ролевая модель оформлена в виде доменного перечисления UserRole со значениями, хранящимися в базе данных в текстовом виде.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Жизненный цикл заявки описывается набором из четырёх состояний. Состояние «created» — заявка зарегистрирована библиотекарем, исполнитель не назначен. Состояние «in_progress» — администратор назначил инженера. Состояние «completed» — инженер отметил заявку как выполненную. Состояние «deleted» — заявка отменена автором или администратором. Терминальные состояния «completed» и «deleted» не допускают дальнейших переходов, что гарантирует невозможность повторного открытия закрытой заявки. Право выполнять каждый из переходов закреплено за определённой ролью, и проверка допустимости перехода вынесена в единый сервисный слой, что исключает дублирование правил в отдельных обработчиках 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комплекса состоит из двух независимых сервисов, взаимодействующих через gRPC. Серверное ядро helperbot-core содержит всю бизнес-логику обработки заявок и работу с базой данных PostgreSQL. Клиентское приложение helperbot-tg отвечает только за взаимодействие с пользователями через Telegram и не работает с базой напрямую; все обращения к доменным сущностям выполняются через gRPC-методы ядра. Помимо собственных сервисов, ядро интегрировано с внешним AI-сервисом helperbot-ai, разработанным отдельной командой и подключаемым как gRPC-клиент. Такое разделение даёт два преимущества: поверх того же ядра в дальнейшем можно подключить дополнительные клиенты — веб-интерфейс или иные мессенджеры; а изменения в бизнес-логике вносятся в одном 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Технологический стек определялся требованиями к открытости, отсутствию лицензионных отчислений и возможности развёртывания на собственной инфраструктуре. В качестве языка серверной части и Telegram-клиента выбран Go: статическая сборка в один исполняемый файл упрощает упаковку в контейнер. Межсервисное взаимодействие построено на gRPC с Protocol Buffers; для одновременной поддержки REST-клиентов применён grpc-gateway. Хранилище — PostgreSQL с драйвером pgx и миграциями goose. Telegram-клиент использует библиотеку telebot четвёртой версии. Сборка графа зависимостей выполняется через uber-go/fx. Развёртывание организовано через Docker и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данных содержит четыре доменные сущности. Таблица departments — справочник подразделений ЦБС. Таблица users — сотрудники с привязкой к подразделению и роли, идентифицируются по telegram_id. Таблица requests — заявки, ссылаются на подразделение и на двух пользователей: автора-библиотекаря и инженера-исполнителя. Таблица passwords — одноразовые пароли для первичной аутентификации. Статусы, приоритеты и роли хранятся в виде текстовых значений; в первой итерации схемы использовались числовые коды, однако они затрудняли отладку и были заменены отдельной миграцией. Идентификатор заявки реализован как BIGSERIAL, поскольку порядковый номер удобно сообщать в чате, тогда как UUID для устного обращения неудобен.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Серверное ядро helperbot-core построено по трёхслойной архитектуре. Слой репозиториев работает напрямую с PostgreSQL через драйвер pgx. Слой сервисов содержит бизнес-логику и не зависит от способа хранения. Слой API состоит из gRPC-обработчиков, валидирующих входящие сообщения. Зависимости направлены строго сверху вниз: API знает о сервисах, сервисы — о репозиториях, обратные ссылки исключены. Операции, затрагивающие несколько таблиц, оформлены в виде транзакций по приёму «транзакция в контексте». Поверх gRPC поднимается HTTP-шлюз grpc-gateway: маршруты задаются в тех же proto-файлах через аннотации, что позволяет один раз описать контракт и предоставить клиентам выбор транспорта.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Клиентское приложение helperbot-tg построено на библиотеке telebot. Его задача — принимать сообщения сотрудников, проводить их через многошаговые диалоги и обращаться к серверному ядру за выполнением бизнес-логики. Поскольку Telegram не поддерживает встроенного хранения состояния диалога, в клиенте реализован кэш состояний пользователей — потокобезопасное отображение TelegramID на структуру UserState с автоматической очисткой по истечении срока. Каждый сценарий, доступный не всем ролям, начинается с проверки прав через метод checkPermission. Состав главного меню зависит от роли активного пользователя: библиотекарю предлагаются кнопки создания и просмотра своих заявок, инженеру — назначенные на него заявки и их закрытие, администратору — назначение инженеров.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отсутствие корпоративного каталога сотрудников реализована схема аутентификации на основе одноразового пароля. Регистрация выполняется в два этапа разными лицами. На первом этапе администратор инициирует создание учётной записи, ядро генерирует случайный пароль, хеширует его алгоритмом bcrypt и возвращает администратору, который передаёт пароль сотруднику внутренними средствами организации. На втором этапе сотрудник вводит email и одноразовый пароль в боте; ядро проверяет хеш, убеждается, что пароль не был использован ранее, и удаляет запись из таблицы паролей. После этого создаётся учётная запись с заполненным telegram_id. В дальнейшем сотрудник идентифицируется автоматически по идентификатору Telegram без повторного ввода учётных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Развёртывание комплекса организовано таким образом, чтобы на сервере организации требовалось наличие только Docker и Docker Compose. Файл docker-compose.yml описывает шесть контейнеров: два экземпляра PostgreSQL в режиме физической репликации master-slave, контейнер однократных миграций, серверное ядро, Telegram-клиент и внешний AI-сервис. Образы helperbot-core и helperbot-tg собираются по многоступенчатой схеме: на этапе сборки используется образ golang:alpine, бинарный файл копируется в минимальный рантайм-образ alpine:latest. Финальный образ содержит только бинарный файл и не включает компилятор. Поверх docker-compose реализован Makefile, позволяющий развернуть рабочую копию комплекса двумя действиями.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проверки корректности реализованного комплекса применено ручное сценарное тестирование. Выбор такого подхода обусловлен тем, что число доменных сценариев ограничено и каждый имеет наблюдаемый эффект в интерфейсе Telegram-бота. Проверены ключевые сценарии каждой роли: регистрация сотрудника, повторное использование одноразового пароля, создание заявки в типовом и свободном виде, просмотр своих заявок, назначение инженера, закрытие и отмена заявки, попытка доступа к чужой операции, а также сохранность данных при перезапуске контейнеров. По каждому сценарию проверялось не только сообщение бота, но и состояние базы данных запросом SELECT. Автоматизированное покрытие тестами вынесено в дальнейшие задачи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ходе выпускной квалификационной работы была достигнута поставленная цель. Проведён сравнительный анализ пяти существующих систем учёта заявок и обоснована целесообразность собственной разработки. Сформулированы функциональные и нефункциональные требования. Спроектирована архитектура из двух независимых сервисов, взаимодействующих через gRPC. Реализована модель данных и серверное ядро на языке Go со слоистой структурой; разработан Telegram-клиент с многошаговыми диалогами и ролевыми меню; реализована схема аутентификации по одноразовому паролю; подготовлена инфраструктура развёртывания на базе Docker Compose. Проведено ручное сценарное тестирование разработанного комплекса. Практическая ценность работы состоит в том, что разработанный комплекс закрывает потребность ЦБС Петроградского района в учёте технических заявок без приобретения коммерческих лицензий.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Перспективными направлениями развития комплекса являются: разработка веб-интерфейса администратора через имеющийся REST-шлюз, что не потребует изменений в бизнес-логике ядра; покрытие сервисного слоя автоматическими юнит- и интеграционными тестами; расширение интеграции с внешним AI-сервисом helperbot-ai для предоставления сотрудникам справочных ответов и рекомендаций литературы; подключение дополнительных клиентов на иных мессенджерах, в первую очередь на отечественной платформе Max. Принятый в работе подход к разделению ядра и клиентских приложений может быть повторён для аналогичных задач в других бюджетных учреждениях.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окончен. Благодарю за внимание. Готов ответить на вопросы членов комиссии.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90625"/>
            <a:ext cx="88474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24" kern="0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ПРОСВЕЩЕНИЯ РОССИЙСКОЙ ФЕДЕРАЦИИ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81150"/>
            <a:ext cx="164820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Российский государственный педагогический университет им. А. И. Герцена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952625"/>
            <a:ext cx="14716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360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ВЫПУСКНАЯ КВАЛИФИКАЦИОННАЯ РАБОТА ·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581275"/>
            <a:ext cx="14716125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b="1" spc="-66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Разработка телеграм-бота для управления задачами в ЦБС Петроградского района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1143000" y="5638800"/>
            <a:ext cx="60579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886450"/>
            <a:ext cx="566813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helperbot · программный комплекс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6296025"/>
            <a:ext cx="7848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6743700"/>
            <a:ext cx="427221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Суворов Роман Михайлович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7210425"/>
            <a:ext cx="7620000" cy="28575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7467600"/>
            <a:ext cx="7848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обучающийся 4 курса очной формы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0" y="6296025"/>
            <a:ext cx="7848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РУКОВОДИТЕЛЬ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0" y="6743700"/>
            <a:ext cx="423393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Жуков Николай Николаевич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0" y="7210425"/>
            <a:ext cx="7620000" cy="28575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7467600"/>
            <a:ext cx="7848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доцент кафедры ИТиЭО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8334375"/>
            <a:ext cx="7848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ПОДГОТОВКИ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8791575"/>
            <a:ext cx="580815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09.03.01 Информатика и вычислительная техника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43000" y="9182100"/>
            <a:ext cx="7620000" cy="28575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9439275"/>
            <a:ext cx="784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«Технологии разработки программного обеспечения»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0" y="8334375"/>
            <a:ext cx="7848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САНКТ-ПЕТЕРБУРГ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0" y="8753475"/>
            <a:ext cx="78486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1722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35001" y="419100"/>
            <a:ext cx="268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02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РАБОТЫ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Учёт инженерных заявок ведётся неформально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33242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860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ТЕКУЩАЯ ПРАКТИКА ЦБС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6310" y="3562350"/>
            <a:ext cx="795909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Обращения передаются через мессенджеры, телефонные звонки и устные просьбы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теряются, инженеры дублируют работу друг друга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Отсутствует единая история обращений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48800" y="33242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" name="Text 8"/>
          <p:cNvSpPr/>
          <p:nvPr/>
        </p:nvSpPr>
        <p:spPr>
          <a:xfrm>
            <a:off x="9448800" y="28860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РЕШЕНИЯ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ПОДХОДЯТ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62110" y="3562350"/>
            <a:ext cx="7959090" cy="227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Коммерческие платформы требуют лицензионных отчислений и недоступны для приобретения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системы рассчитаны на технических специалистов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одна не предоставляет родного Telegram-клиента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9544050"/>
            <a:ext cx="55590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ЦБС Петроградского района Санкт-Петербурга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33514" y="9544050"/>
            <a:ext cx="14876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Введение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1722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32471" y="419100"/>
            <a:ext cx="26909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03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ИССЛЕДОВАНИЯ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Объект и предмет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143000" y="2924175"/>
            <a:ext cx="21717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Объект исследования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19500" y="2886075"/>
            <a:ext cx="139312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регистрации, распределения и сопровождения технических заявок сотрудников в библиотечной системе.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990975"/>
            <a:ext cx="21717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Предмет исследования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19500" y="3952875"/>
            <a:ext cx="139312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Программные методы построения микросервисных приложений на языке Go с пользовательским интерфейсом в виде Telegram-бота для управления заявками.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5057775"/>
            <a:ext cx="21717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Теоретическая значимость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19500" y="5019675"/>
            <a:ext cx="139312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Систематизация подходов к проектированию микросервисов на Go и обоснование архитектуры, при которой единое серверное ядро допускает подключение нескольких клиентов без изменения бизнес-логики.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124575"/>
            <a:ext cx="21717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Практическая значимость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19500" y="6086475"/>
            <a:ext cx="139312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программного комплекса Helperbot для применения в ЦБС Петроградского района; решение применимо в аналогичных бюджетных учреждениях.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9544050"/>
            <a:ext cx="36670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· предмет · значимость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33514" y="9544050"/>
            <a:ext cx="14876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Введение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1722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25923" y="419100"/>
            <a:ext cx="2697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04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Разработать программный комплекс на основе Telegram-бота для учёта, распределения и сопровождения технических заявок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4429125"/>
            <a:ext cx="16002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990975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РАБОТЫ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645" y="4895850"/>
            <a:ext cx="7869555" cy="398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организацию работы сотрудников ЦБС и сформулировать требования к системе учёта заявок.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сравнительный анализ существующих средств управления задачами.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архитектуру комплекса из двух независимых сервисов.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модель данных и подготовить миграции PostgreSQL.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серверное ядро с gRPC-интерфейсом и REST-шлюзом.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Telegram-бот с ролевой моделью и сценариями жизненного цикла заявки.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инфраструктуру развёртывания на базе Docker Compose и провести тестирование комплекса.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9544050"/>
            <a:ext cx="30988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задач исследования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33514" y="9544050"/>
            <a:ext cx="14876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Введение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724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37978" y="419100"/>
            <a:ext cx="26852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05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СРАВНИТЕЛЬНЫЙ АНАЛИЗ СИСТЕМ УЧЁТА ЗАЯВОК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 одна из готовых систем не отвечает всем условиям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143000" y="2809875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Таблица 1 — сопоставление пяти распространённых решений с требованиями ЦБС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4214813"/>
            <a:ext cx="352038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276600"/>
            <a:ext cx="352038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448050"/>
            <a:ext cx="3244992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380" y="4214813"/>
            <a:ext cx="1872555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380" y="3276600"/>
            <a:ext cx="1872555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853880" y="3448050"/>
            <a:ext cx="1567755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5936" y="4214813"/>
            <a:ext cx="1589038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5936" y="3276600"/>
            <a:ext cx="1589038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6436" y="3448050"/>
            <a:ext cx="1284238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4974" y="4214813"/>
            <a:ext cx="3178522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4974" y="3276600"/>
            <a:ext cx="3178522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315474" y="3448050"/>
            <a:ext cx="2892878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on-premise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303496" y="4214813"/>
            <a:ext cx="2266504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03496" y="3276600"/>
            <a:ext cx="2266504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93996" y="3448050"/>
            <a:ext cx="1961704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Telegram-клиент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570000" y="4214813"/>
            <a:ext cx="3575447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13570000" y="3276600"/>
            <a:ext cx="3575447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13760500" y="3448050"/>
            <a:ext cx="3301710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Подходит для библиотек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3000" y="5043488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6" name="Text 24"/>
          <p:cNvSpPr/>
          <p:nvPr/>
        </p:nvSpPr>
        <p:spPr>
          <a:xfrm>
            <a:off x="1333500" y="4338638"/>
            <a:ext cx="324499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Software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63380" y="5043488"/>
            <a:ext cx="1872555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8" name="Text 26"/>
          <p:cNvSpPr/>
          <p:nvPr/>
        </p:nvSpPr>
        <p:spPr>
          <a:xfrm>
            <a:off x="4853880" y="4338638"/>
            <a:ext cx="15677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35936" y="5043488"/>
            <a:ext cx="1589038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0" name="Text 28"/>
          <p:cNvSpPr/>
          <p:nvPr/>
        </p:nvSpPr>
        <p:spPr>
          <a:xfrm>
            <a:off x="6726436" y="4338638"/>
            <a:ext cx="128423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24974" y="5043488"/>
            <a:ext cx="3178522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2" name="Text 30"/>
          <p:cNvSpPr/>
          <p:nvPr/>
        </p:nvSpPr>
        <p:spPr>
          <a:xfrm>
            <a:off x="8315474" y="4338638"/>
            <a:ext cx="28928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Data Center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303496" y="5043488"/>
            <a:ext cx="2266504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93996" y="4338638"/>
            <a:ext cx="196170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Сторонние плагины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570000" y="5043488"/>
            <a:ext cx="357544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6" name="Text 34"/>
          <p:cNvSpPr/>
          <p:nvPr/>
        </p:nvSpPr>
        <p:spPr>
          <a:xfrm>
            <a:off x="13760500" y="4338638"/>
            <a:ext cx="33017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— платно, сложно для не-ИТ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5576888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8" name="Text 36"/>
          <p:cNvSpPr/>
          <p:nvPr/>
        </p:nvSpPr>
        <p:spPr>
          <a:xfrm>
            <a:off x="1333500" y="5167313"/>
            <a:ext cx="3244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663380" y="5576888"/>
            <a:ext cx="1872555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0" name="Text 38"/>
          <p:cNvSpPr/>
          <p:nvPr/>
        </p:nvSpPr>
        <p:spPr>
          <a:xfrm>
            <a:off x="4853880" y="5167313"/>
            <a:ext cx="15677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535936" y="5576888"/>
            <a:ext cx="1589038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2" name="Text 40"/>
          <p:cNvSpPr/>
          <p:nvPr/>
        </p:nvSpPr>
        <p:spPr>
          <a:xfrm>
            <a:off x="6726436" y="5167313"/>
            <a:ext cx="12842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124974" y="5576888"/>
            <a:ext cx="3178522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4" name="Text 42"/>
          <p:cNvSpPr/>
          <p:nvPr/>
        </p:nvSpPr>
        <p:spPr>
          <a:xfrm>
            <a:off x="8315474" y="5167313"/>
            <a:ext cx="28928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303496" y="5576888"/>
            <a:ext cx="2266504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6" name="Text 44"/>
          <p:cNvSpPr/>
          <p:nvPr/>
        </p:nvSpPr>
        <p:spPr>
          <a:xfrm>
            <a:off x="11493996" y="5167313"/>
            <a:ext cx="19617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Сторонние боты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3570000" y="5576888"/>
            <a:ext cx="357544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8" name="Text 46"/>
          <p:cNvSpPr/>
          <p:nvPr/>
        </p:nvSpPr>
        <p:spPr>
          <a:xfrm>
            <a:off x="13760500" y="5167313"/>
            <a:ext cx="3301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ролей и статусов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43000" y="640556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0" name="Text 48"/>
          <p:cNvSpPr/>
          <p:nvPr/>
        </p:nvSpPr>
        <p:spPr>
          <a:xfrm>
            <a:off x="1333500" y="5700713"/>
            <a:ext cx="324499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Redmine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663380" y="6405563"/>
            <a:ext cx="1872555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2" name="Text 50"/>
          <p:cNvSpPr/>
          <p:nvPr/>
        </p:nvSpPr>
        <p:spPr>
          <a:xfrm>
            <a:off x="4853880" y="5700713"/>
            <a:ext cx="15677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535936" y="6405563"/>
            <a:ext cx="1589038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4" name="Text 52"/>
          <p:cNvSpPr/>
          <p:nvPr/>
        </p:nvSpPr>
        <p:spPr>
          <a:xfrm>
            <a:off x="6726436" y="5700713"/>
            <a:ext cx="128423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124974" y="6405563"/>
            <a:ext cx="3178522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6" name="Text 54"/>
          <p:cNvSpPr/>
          <p:nvPr/>
        </p:nvSpPr>
        <p:spPr>
          <a:xfrm>
            <a:off x="8315474" y="5700713"/>
            <a:ext cx="28928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303496" y="6405563"/>
            <a:ext cx="2266504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8" name="Text 56"/>
          <p:cNvSpPr/>
          <p:nvPr/>
        </p:nvSpPr>
        <p:spPr>
          <a:xfrm>
            <a:off x="11493996" y="5700713"/>
            <a:ext cx="196170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Сторонние плагины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570000" y="6405563"/>
            <a:ext cx="357544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60" name="Text 58"/>
          <p:cNvSpPr/>
          <p:nvPr/>
        </p:nvSpPr>
        <p:spPr>
          <a:xfrm>
            <a:off x="13760500" y="5700713"/>
            <a:ext cx="33017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Сложен для библиотекарей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43000" y="7234238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62" name="Text 60"/>
          <p:cNvSpPr/>
          <p:nvPr/>
        </p:nvSpPr>
        <p:spPr>
          <a:xfrm>
            <a:off x="1333500" y="6529388"/>
            <a:ext cx="324499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Битрикс24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663380" y="7234238"/>
            <a:ext cx="1872555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64" name="Text 62"/>
          <p:cNvSpPr/>
          <p:nvPr/>
        </p:nvSpPr>
        <p:spPr>
          <a:xfrm>
            <a:off x="4853880" y="6529388"/>
            <a:ext cx="15677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6535936" y="7234238"/>
            <a:ext cx="1589038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66" name="Text 64"/>
          <p:cNvSpPr/>
          <p:nvPr/>
        </p:nvSpPr>
        <p:spPr>
          <a:xfrm>
            <a:off x="6726436" y="6529388"/>
            <a:ext cx="128423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8124974" y="7234238"/>
            <a:ext cx="3178522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68" name="Text 66"/>
          <p:cNvSpPr/>
          <p:nvPr/>
        </p:nvSpPr>
        <p:spPr>
          <a:xfrm>
            <a:off x="8315474" y="6529388"/>
            <a:ext cx="28928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(коробка)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303496" y="7234238"/>
            <a:ext cx="2266504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70" name="Text 68"/>
          <p:cNvSpPr/>
          <p:nvPr/>
        </p:nvSpPr>
        <p:spPr>
          <a:xfrm>
            <a:off x="11493996" y="6529388"/>
            <a:ext cx="196170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интеграции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3570000" y="7234238"/>
            <a:ext cx="357544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72" name="Text 70"/>
          <p:cNvSpPr/>
          <p:nvPr/>
        </p:nvSpPr>
        <p:spPr>
          <a:xfrm>
            <a:off x="13760500" y="6529388"/>
            <a:ext cx="33017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функциональность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143000" y="806291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74" name="Text 72"/>
          <p:cNvSpPr/>
          <p:nvPr/>
        </p:nvSpPr>
        <p:spPr>
          <a:xfrm>
            <a:off x="1333500" y="7358063"/>
            <a:ext cx="324499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ServiceDesk Plus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4663380" y="8062913"/>
            <a:ext cx="1872555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76" name="Text 74"/>
          <p:cNvSpPr/>
          <p:nvPr/>
        </p:nvSpPr>
        <p:spPr>
          <a:xfrm>
            <a:off x="4853880" y="7358063"/>
            <a:ext cx="15677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6535936" y="8062913"/>
            <a:ext cx="1589038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78" name="Text 76"/>
          <p:cNvSpPr/>
          <p:nvPr/>
        </p:nvSpPr>
        <p:spPr>
          <a:xfrm>
            <a:off x="6726436" y="7358063"/>
            <a:ext cx="128423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8124974" y="8062913"/>
            <a:ext cx="3178522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80" name="Text 78"/>
          <p:cNvSpPr/>
          <p:nvPr/>
        </p:nvSpPr>
        <p:spPr>
          <a:xfrm>
            <a:off x="8315474" y="7358063"/>
            <a:ext cx="28928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1303496" y="8062913"/>
            <a:ext cx="2266504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82" name="Text 80"/>
          <p:cNvSpPr/>
          <p:nvPr/>
        </p:nvSpPr>
        <p:spPr>
          <a:xfrm>
            <a:off x="11493996" y="7358063"/>
            <a:ext cx="196170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Сторонние плагины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3570000" y="8062913"/>
            <a:ext cx="357544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84" name="Text 82"/>
          <p:cNvSpPr/>
          <p:nvPr/>
        </p:nvSpPr>
        <p:spPr>
          <a:xfrm>
            <a:off x="13760500" y="7358063"/>
            <a:ext cx="33017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Дорого, для крупного ИТ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1143000" y="8072438"/>
            <a:ext cx="16002000" cy="538163"/>
          </a:xfrm>
          <a:prstGeom prst="rect">
            <a:avLst/>
          </a:prstGeom>
          <a:solidFill>
            <a:srgbClr val="1A3A6E">
              <a:alpha val="6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143000" y="8591550"/>
            <a:ext cx="352038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7" name="Text 85"/>
          <p:cNvSpPr/>
          <p:nvPr/>
        </p:nvSpPr>
        <p:spPr>
          <a:xfrm>
            <a:off x="1333500" y="8186738"/>
            <a:ext cx="32449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разработка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4663380" y="8591550"/>
            <a:ext cx="1872555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9" name="Text 87"/>
          <p:cNvSpPr/>
          <p:nvPr/>
        </p:nvSpPr>
        <p:spPr>
          <a:xfrm>
            <a:off x="4853880" y="8186738"/>
            <a:ext cx="15677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6535936" y="8591550"/>
            <a:ext cx="1589038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1" name="Text 89"/>
          <p:cNvSpPr/>
          <p:nvPr/>
        </p:nvSpPr>
        <p:spPr>
          <a:xfrm>
            <a:off x="6726436" y="8186738"/>
            <a:ext cx="12842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8124974" y="8591550"/>
            <a:ext cx="3178522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3" name="Text 91"/>
          <p:cNvSpPr/>
          <p:nvPr/>
        </p:nvSpPr>
        <p:spPr>
          <a:xfrm>
            <a:off x="8315474" y="8186738"/>
            <a:ext cx="28928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11303496" y="8591550"/>
            <a:ext cx="2266504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5" name="Text 93"/>
          <p:cNvSpPr/>
          <p:nvPr/>
        </p:nvSpPr>
        <p:spPr>
          <a:xfrm>
            <a:off x="11493996" y="8186738"/>
            <a:ext cx="19617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13570000" y="8591550"/>
            <a:ext cx="3575447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7" name="Text 95"/>
          <p:cNvSpPr/>
          <p:nvPr/>
        </p:nvSpPr>
        <p:spPr>
          <a:xfrm>
            <a:off x="13760500" y="8186738"/>
            <a:ext cx="33017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1143000" y="9544050"/>
            <a:ext cx="62341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· Trello · Redmine · Битрикс24 · ServiceDesk Plus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15942469" y="9544050"/>
            <a:ext cx="12787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Анализ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724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31876" y="419100"/>
            <a:ext cx="26915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06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КОМПЛЕКСУ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Функциональные и нефункциональные требования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33242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860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·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ПУНКТОВ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6310" y="3562350"/>
            <a:ext cx="7959090" cy="505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роли: библиотекарь, инженер, администратор, root-администратор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заявки по шаблону или в свободной форме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инженера, изменение статуса с фиксацией времени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по email и одноразовому паролю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Привязка пользователя к подразделению ЦБС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полной истории заявок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новых клиентов без переработки бизнес-логики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внешним AI-сервисом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48800" y="33242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" name="Text 8"/>
          <p:cNvSpPr/>
          <p:nvPr/>
        </p:nvSpPr>
        <p:spPr>
          <a:xfrm>
            <a:off x="9448800" y="28860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НЕФУНКЦИОНАЛЬНЫЕ ·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ПУНКТОВ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62110" y="3562350"/>
            <a:ext cx="7959090" cy="3676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технологии без лицензионных отчислений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отклика типовой операции — не более 2 секунд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Горизонтальное масштабирование ядра, независимость клиентов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всех компонентов единым скриптом через контейнеризацию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Сохранность данных при перезапуске и обновлении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одного клиента не влияет на доступность ядра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9544050"/>
            <a:ext cx="49055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должна и как должна делать система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942469" y="9544050"/>
            <a:ext cx="12787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Анализ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724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49735" y="419100"/>
            <a:ext cx="26731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07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РОЛЕВАЯ МОДЕЛЬ ПОЛЬЗОВАТЕЛЕЙ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роли с разграничением прав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2962275"/>
            <a:ext cx="3771900" cy="28575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19450"/>
            <a:ext cx="388505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Библиотекарь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3743325"/>
            <a:ext cx="3885057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заявки от своего подразделения, просматривает свои открытые заявки, может отменить созданную заявку до начала работ.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5448300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= librarian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19700" y="2962275"/>
            <a:ext cx="3771900" cy="28575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1" name="Text 9"/>
          <p:cNvSpPr/>
          <p:nvPr/>
        </p:nvSpPr>
        <p:spPr>
          <a:xfrm>
            <a:off x="5219700" y="3219450"/>
            <a:ext cx="388505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Инженер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219700" y="3743325"/>
            <a:ext cx="3885057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назначенные на него заявки, изменяет их статус: «в работе» и «выполнена». Доступа к чужим заявкам нет.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9700" y="513397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= engineer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96400" y="2962275"/>
            <a:ext cx="3771900" cy="28575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9296400" y="3219450"/>
            <a:ext cx="388505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Администратор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296400" y="3743325"/>
            <a:ext cx="3885057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 все открытые заявки, назначает инженера-исполнителя, контролирует ход выполнения, может отменить любую заявку.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96400" y="513397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= admin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373100" y="2962275"/>
            <a:ext cx="3771900" cy="28575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13373100" y="3219450"/>
            <a:ext cx="388505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Root-администратор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373100" y="3743325"/>
            <a:ext cx="3885057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Регистрирует учётные записи новых сотрудников, генерирует одноразовые пароли. Обладает всеми правами администратора.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73100" y="513397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RootAdminId in config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6229350"/>
            <a:ext cx="13735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Разделение администратора и root-администратора обусловлено требованием к разграничению прав доступа на учётные данные сотрудников: операции с паролями недоступны рядовому администратору.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9544050"/>
            <a:ext cx="56894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UserRole · admin / engineer / librarian / undefined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942469" y="9544050"/>
            <a:ext cx="12787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Анализ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724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32025" y="419100"/>
            <a:ext cx="26913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08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ЗАЯВКИ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состояния и переходы по ролям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2886075"/>
            <a:ext cx="2286000" cy="819150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76350" y="3133725"/>
            <a:ext cx="201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90900" y="3119438"/>
            <a:ext cx="236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715000" y="2886075"/>
            <a:ext cx="2286000" cy="819150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48350" y="3133725"/>
            <a:ext cx="201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62900" y="3119438"/>
            <a:ext cx="236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287000" y="2886075"/>
            <a:ext cx="2286000" cy="81915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0350" y="3133725"/>
            <a:ext cx="201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5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534900" y="3119438"/>
            <a:ext cx="236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4859000" y="2886075"/>
            <a:ext cx="2286000" cy="81915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92350" y="3133725"/>
            <a:ext cx="201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5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4238625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Таблица 2 — допустимые переходы и роли-инициаторы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5319713"/>
            <a:ext cx="512058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705350"/>
            <a:ext cx="512058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4876800"/>
            <a:ext cx="489319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580" y="5319713"/>
            <a:ext cx="5440561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580" y="4705350"/>
            <a:ext cx="5440561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54080" y="4876800"/>
            <a:ext cx="52227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Инициатор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704141" y="5319713"/>
            <a:ext cx="5440859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141" y="4705350"/>
            <a:ext cx="5440859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1894641" y="4876800"/>
            <a:ext cx="52230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5853113"/>
            <a:ext cx="51205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5443538"/>
            <a:ext cx="48931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 → in_progress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63580" y="5853113"/>
            <a:ext cx="5440561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0" name="Text 28"/>
          <p:cNvSpPr/>
          <p:nvPr/>
        </p:nvSpPr>
        <p:spPr>
          <a:xfrm>
            <a:off x="6454080" y="5443538"/>
            <a:ext cx="5222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704141" y="5853113"/>
            <a:ext cx="5440859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2" name="Text 30"/>
          <p:cNvSpPr/>
          <p:nvPr/>
        </p:nvSpPr>
        <p:spPr>
          <a:xfrm>
            <a:off x="11894641" y="5443538"/>
            <a:ext cx="52230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 инженер-исполнитель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3000" y="6386513"/>
            <a:ext cx="51205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4" name="Text 32"/>
          <p:cNvSpPr/>
          <p:nvPr/>
        </p:nvSpPr>
        <p:spPr>
          <a:xfrm>
            <a:off x="1333500" y="5976938"/>
            <a:ext cx="48931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 → deleted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63580" y="6386513"/>
            <a:ext cx="5440561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6" name="Text 34"/>
          <p:cNvSpPr/>
          <p:nvPr/>
        </p:nvSpPr>
        <p:spPr>
          <a:xfrm>
            <a:off x="6454080" y="5976938"/>
            <a:ext cx="5222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 (автор) или администратор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704141" y="6386513"/>
            <a:ext cx="5440859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8" name="Text 36"/>
          <p:cNvSpPr/>
          <p:nvPr/>
        </p:nvSpPr>
        <p:spPr>
          <a:xfrm>
            <a:off x="11894641" y="5976938"/>
            <a:ext cx="52230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Отмена до начала работ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43000" y="6919913"/>
            <a:ext cx="51205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0" name="Text 38"/>
          <p:cNvSpPr/>
          <p:nvPr/>
        </p:nvSpPr>
        <p:spPr>
          <a:xfrm>
            <a:off x="1333500" y="6510338"/>
            <a:ext cx="48931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 → completed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263580" y="6919913"/>
            <a:ext cx="5440561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2" name="Text 40"/>
          <p:cNvSpPr/>
          <p:nvPr/>
        </p:nvSpPr>
        <p:spPr>
          <a:xfrm>
            <a:off x="6454080" y="6510338"/>
            <a:ext cx="5222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Инженер-исполнитель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1704141" y="6919913"/>
            <a:ext cx="5440859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4" name="Text 42"/>
          <p:cNvSpPr/>
          <p:nvPr/>
        </p:nvSpPr>
        <p:spPr>
          <a:xfrm>
            <a:off x="11894641" y="6510338"/>
            <a:ext cx="52230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Работы завершены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43000" y="7448550"/>
            <a:ext cx="512058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1333500" y="7043738"/>
            <a:ext cx="48931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 → deleted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263580" y="7448550"/>
            <a:ext cx="5440561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8" name="Text 46"/>
          <p:cNvSpPr/>
          <p:nvPr/>
        </p:nvSpPr>
        <p:spPr>
          <a:xfrm>
            <a:off x="6454080" y="7043738"/>
            <a:ext cx="52227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704141" y="7448550"/>
            <a:ext cx="5440859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11894641" y="7043738"/>
            <a:ext cx="52230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Отмена выполняемой заявки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43000" y="9544050"/>
            <a:ext cx="57262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Терминальные состояния — completed и deleted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942469" y="9544050"/>
            <a:ext cx="12787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Анализ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724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31876" y="419100"/>
            <a:ext cx="26915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09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ПРОГРАММНОГО КОМПЛЕКСА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Два независимых сервиса, общение по gRPC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3267075"/>
            <a:ext cx="4825901" cy="1647825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4177" y="3552825"/>
            <a:ext cx="430354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helperbot-tg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404177" y="4019550"/>
            <a:ext cx="430354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Telegram-клиент обработчики, диалоги, gRPC-клиенты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58148" y="3690937"/>
            <a:ext cx="25970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30801" y="4176712"/>
            <a:ext cx="838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30901" y="3267075"/>
            <a:ext cx="4826050" cy="1647825"/>
          </a:xfrm>
          <a:prstGeom prst="rect">
            <a:avLst/>
          </a:prstGeom>
          <a:solidFill>
            <a:srgbClr val="1A3A6E"/>
          </a:solidFill>
          <a:ln w="19050">
            <a:solidFill>
              <a:srgbClr val="1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2076" y="3552825"/>
            <a:ext cx="4303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helperbot-core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92076" y="4019550"/>
            <a:ext cx="43037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Серверное ядро бизнес-логика, gRPC + REST-шлюз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46198" y="3690937"/>
            <a:ext cx="25970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518850" y="4176712"/>
            <a:ext cx="838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18950" y="3114675"/>
            <a:ext cx="4826050" cy="1952625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80125" y="3400425"/>
            <a:ext cx="4303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helperbot-ai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580125" y="3867150"/>
            <a:ext cx="43037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AI-сервис ChatServiceClient (внешняя зависимость)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6038850"/>
            <a:ext cx="5029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600700"/>
            <a:ext cx="5180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6276975"/>
            <a:ext cx="518007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сервис имеет свою зону ответственности — доменная логика в ядре, канал связи в клиенте.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629400" y="6038850"/>
            <a:ext cx="5029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600700"/>
            <a:ext cx="5180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6276975"/>
            <a:ext cx="518007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доступ к базе — только у ядра. Telegram-клиент работает с PostgreSQL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gRPC.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2115800" y="6038850"/>
            <a:ext cx="5029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6" name="Text 24"/>
          <p:cNvSpPr/>
          <p:nvPr/>
        </p:nvSpPr>
        <p:spPr>
          <a:xfrm>
            <a:off x="12115800" y="5600700"/>
            <a:ext cx="5180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115800" y="6276975"/>
            <a:ext cx="518007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зафиксирован в .proto-файлах — сервисы развиваются и развёртываются независимо.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43000" y="9544050"/>
            <a:ext cx="58962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Декомпозиция по С. Ньюману · DDD по Э. Эвансу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942469" y="9544050"/>
            <a:ext cx="12787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Анализ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724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80989" y="419100"/>
            <a:ext cx="26409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10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СТЕК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Открытые компоненты, отсутствие лицензионных отчислений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4010025"/>
            <a:ext cx="228600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514725"/>
            <a:ext cx="22860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609975"/>
            <a:ext cx="236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10000" y="4010025"/>
            <a:ext cx="266700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3810000" y="3514725"/>
            <a:ext cx="26670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3810000" y="3609975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0" y="4010025"/>
            <a:ext cx="1028700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514725"/>
            <a:ext cx="102870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609975"/>
            <a:ext cx="105956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4019550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105275"/>
            <a:ext cx="236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Язык серверной части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10000" y="4019550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18" name="Text 16"/>
          <p:cNvSpPr/>
          <p:nvPr/>
        </p:nvSpPr>
        <p:spPr>
          <a:xfrm>
            <a:off x="3810000" y="4105275"/>
            <a:ext cx="27470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0" y="4019550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105275"/>
            <a:ext cx="105956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Статическая сборка в один бинарный файл, конкурентность, отсутствие виртуальной машины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4495800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581525"/>
            <a:ext cx="236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Межсервисный обмен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10000" y="4495800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0" y="4581525"/>
            <a:ext cx="27470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 + Protobuf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0" y="4495800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4581525"/>
            <a:ext cx="105956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Типизированные контракты в .proto, бинарная сериализация, кодогенерация клиента и сервера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4972050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5057775"/>
            <a:ext cx="236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REST-фасад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810000" y="4972050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0" name="Text 28"/>
          <p:cNvSpPr/>
          <p:nvPr/>
        </p:nvSpPr>
        <p:spPr>
          <a:xfrm>
            <a:off x="3810000" y="5057775"/>
            <a:ext cx="27470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grpc-gateway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858000" y="4972050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5057775"/>
            <a:ext cx="105956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контракт для gRPC и REST — будущий веб-интерфейс без изменений кода ядра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3000" y="5448300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5534025"/>
            <a:ext cx="236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СУБД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10000" y="5448300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6" name="Text 34"/>
          <p:cNvSpPr/>
          <p:nvPr/>
        </p:nvSpPr>
        <p:spPr>
          <a:xfrm>
            <a:off x="3810000" y="5534025"/>
            <a:ext cx="27470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858000" y="5448300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534025"/>
            <a:ext cx="105956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код, физическая репликация master–slave, развитая работа с типами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43000" y="5924550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0" name="Text 38"/>
          <p:cNvSpPr/>
          <p:nvPr/>
        </p:nvSpPr>
        <p:spPr>
          <a:xfrm>
            <a:off x="1143000" y="6010275"/>
            <a:ext cx="2362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Драйвер БД и миграции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810000" y="5924550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2" name="Text 40"/>
          <p:cNvSpPr/>
          <p:nvPr/>
        </p:nvSpPr>
        <p:spPr>
          <a:xfrm>
            <a:off x="3810000" y="6010275"/>
            <a:ext cx="27470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pgx · goose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858000" y="5924550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6010275"/>
            <a:ext cx="105956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Нативный драйвер без CGO; версионируемые SQL-миграции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43000" y="6696075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6" name="Text 44"/>
          <p:cNvSpPr/>
          <p:nvPr/>
        </p:nvSpPr>
        <p:spPr>
          <a:xfrm>
            <a:off x="1143000" y="6781800"/>
            <a:ext cx="236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Telegram-библиотека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810000" y="6696075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8" name="Text 46"/>
          <p:cNvSpPr/>
          <p:nvPr/>
        </p:nvSpPr>
        <p:spPr>
          <a:xfrm>
            <a:off x="3810000" y="6781800"/>
            <a:ext cx="27470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tucnak/telebot v4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858000" y="6696075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0" y="6781800"/>
            <a:ext cx="105956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Декларативная регистрация обработчиков, поддержка inline-клавиатур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143000" y="7172325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7258050"/>
            <a:ext cx="236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DI-контейнер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810000" y="7172325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4" name="Text 52"/>
          <p:cNvSpPr/>
          <p:nvPr/>
        </p:nvSpPr>
        <p:spPr>
          <a:xfrm>
            <a:off x="3810000" y="7258050"/>
            <a:ext cx="27470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uber-go/fx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858000" y="7172325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0" y="7258050"/>
            <a:ext cx="105956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зависимостями и жизненным циклом сервисов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43000" y="7648575"/>
            <a:ext cx="2286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8" name="Text 56"/>
          <p:cNvSpPr/>
          <p:nvPr/>
        </p:nvSpPr>
        <p:spPr>
          <a:xfrm>
            <a:off x="1143000" y="7734300"/>
            <a:ext cx="2362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Контейнеризация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3810000" y="7648575"/>
            <a:ext cx="266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60" name="Text 58"/>
          <p:cNvSpPr/>
          <p:nvPr/>
        </p:nvSpPr>
        <p:spPr>
          <a:xfrm>
            <a:off x="3810000" y="7734300"/>
            <a:ext cx="27470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Docker Compose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858000" y="7648575"/>
            <a:ext cx="102870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62" name="Text 60"/>
          <p:cNvSpPr/>
          <p:nvPr/>
        </p:nvSpPr>
        <p:spPr>
          <a:xfrm>
            <a:off x="6858000" y="7734300"/>
            <a:ext cx="105956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Воспроизводимое развёртывание без ручной настройки рантайма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143000" y="9544050"/>
            <a:ext cx="38295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— таблица 1.4 ВКР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5942469" y="9544050"/>
            <a:ext cx="12787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Анализ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036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633674" y="419100"/>
            <a:ext cx="25875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11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таблицы PostgreSQL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2886075"/>
            <a:ext cx="3771900" cy="3943350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2050" y="2905125"/>
            <a:ext cx="3733800" cy="5905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038475"/>
            <a:ext cx="34648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F5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2550" y="364807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SMALLINT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2550" y="401955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52550" y="439102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2550" y="476250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19700" y="2886075"/>
            <a:ext cx="3771900" cy="3943350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8750" y="2905125"/>
            <a:ext cx="3733800" cy="5905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5429250" y="3038475"/>
            <a:ext cx="34648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F5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29250" y="364807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UUID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29250" y="401955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telegram_id · BIGINT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29250" y="439102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· TEXT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29250" y="476250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· TEXT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29250" y="513397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department_id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29250" y="550545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/ updated_at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96400" y="2886075"/>
            <a:ext cx="3771900" cy="3943350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15450" y="2905125"/>
            <a:ext cx="3733800" cy="5905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9505950" y="3038475"/>
            <a:ext cx="34648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F5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5950" y="364807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BIGSERIAL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05950" y="401955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· TEXT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05950" y="439102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· TEXT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05950" y="476250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TEXT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05950" y="5133975"/>
            <a:ext cx="34533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librarian_id, engineer_id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05950" y="587692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department_id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05950" y="624840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closed_at / deleted_at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373100" y="2886075"/>
            <a:ext cx="3771900" cy="3943350"/>
          </a:xfrm>
          <a:prstGeom prst="rect">
            <a:avLst/>
          </a:prstGeom>
          <a:solidFill>
            <a:srgbClr val="F5F2EC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392150" y="2905125"/>
            <a:ext cx="3733800" cy="5905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13582650" y="3038475"/>
            <a:ext cx="34648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F5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582650" y="364807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· TEXT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582650" y="401955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· TEXT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582650" y="439102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· BOOLEAN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582650" y="4762500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 · TEXT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582650" y="5133975"/>
            <a:ext cx="34533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used_at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43000" y="7362825"/>
            <a:ext cx="1471612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Статусы, приоритеты и роли хранятся текстом: запрос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'in_progress'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читается без сверки с таблицей кодов. Идентификатор заявки переведён с UUID на BIGSERIAL — порядковый номер удобно сообщать в чате.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43000" y="9544050"/>
            <a:ext cx="61878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Миграции на goose · полная схема — приложение А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332720" y="9544050"/>
            <a:ext cx="18884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Реализация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036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87538" y="419100"/>
            <a:ext cx="26341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12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СЕРВЕРНОЕ ЯДРО HELPERBOT-CORE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Слоистая архитектура · gRPC и REST из одного контракта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3362325"/>
            <a:ext cx="16002000" cy="276225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73726" y="3381375"/>
            <a:ext cx="9525" cy="2724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3609975"/>
            <a:ext cx="49216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слой 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8750" y="4029075"/>
            <a:ext cx="49216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Репозитории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28750" y="4486275"/>
            <a:ext cx="492162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PostgreSQL через драйвер pgx. Каждая сущность — отдельный пакет с интерфейсом Repository.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28750" y="5514975"/>
            <a:ext cx="49216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internal/repository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795075" y="3381375"/>
            <a:ext cx="9525" cy="2724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749951" y="3609975"/>
            <a:ext cx="49217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слой II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49951" y="4029075"/>
            <a:ext cx="49217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Сервисы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49951" y="4486275"/>
            <a:ext cx="492177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Бизнес-логика жизненного цикла заявки. Транзакции — приёмом «транзакция в контексте».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49951" y="5514975"/>
            <a:ext cx="49217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internal/service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71300" y="3609975"/>
            <a:ext cx="49314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слой III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71300" y="4029075"/>
            <a:ext cx="493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071300" y="4486275"/>
            <a:ext cx="493143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gRPC-обработчики и REST-шлюз grpc-gateway. Валидация через protoc-gen-validate до бизнес-логики.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71300" y="5514975"/>
            <a:ext cx="49314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internal/api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6829425"/>
            <a:ext cx="8507611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391275"/>
            <a:ext cx="87628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СВЕРХУ ВНИЗ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7067550"/>
            <a:ext cx="876283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знает о сервисах, сервисы — о репозиториях. Обратные ссылки исключены. Замена реализации репозитория (например, на in-memory для отладки) не требует правок в сервисах и API.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84011" y="6829425"/>
            <a:ext cx="696098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5" name="Text 23"/>
          <p:cNvSpPr/>
          <p:nvPr/>
        </p:nvSpPr>
        <p:spPr>
          <a:xfrm>
            <a:off x="10184011" y="6391275"/>
            <a:ext cx="7169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КОНТРАКТ — ДВА ТРАНСПОРТА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184011" y="7067550"/>
            <a:ext cx="6960989" cy="209550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84011" y="7067550"/>
            <a:ext cx="28575" cy="209550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28" name="Text 26"/>
          <p:cNvSpPr/>
          <p:nvPr/>
        </p:nvSpPr>
        <p:spPr>
          <a:xfrm>
            <a:off x="10384036" y="7200900"/>
            <a:ext cx="679834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rpc Create(CreateRequest)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returns (CreateResponse) {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 (google.api.http) = {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post: "/api/v1/request"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9544050"/>
            <a:ext cx="60322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зависимостей — uber-go/fx · lifecycle hooks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332720" y="9544050"/>
            <a:ext cx="18884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Реализация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036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85156" y="419100"/>
            <a:ext cx="26366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13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КЛИЕНТСКОЕ ПРИЛОЖЕНИЕ HELPERBOT-TG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Презентационный слой поверх gRPC-ядра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33242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860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РЕПОЗИТОРИИ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ОБЁРТКИ НАД GRPC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562350"/>
            <a:ext cx="792708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Реализуют тот же интерфейс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что и в ядре, но вместо SQL-запроса вызывают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RequestServiceClient.Create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Сервисный слой клиента не знает, что работает не с локальной базой.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5429250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991100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СОСТОЯНИЙ ДИАЛОГА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667375"/>
            <a:ext cx="792708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Потокобезопасное отображение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TelegramID → UserState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TTL и фоновой очисткой. Хранит ожидаемое действие, частично заполненную сущность и список сообщений бота для последующей зачистки.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48800" y="33242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" name="Text 11"/>
          <p:cNvSpPr/>
          <p:nvPr/>
        </p:nvSpPr>
        <p:spPr>
          <a:xfrm>
            <a:off x="9448800" y="28860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 ЗАВИСИТ ОТ РОЛИ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48800" y="3562350"/>
            <a:ext cx="792708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Совмещённое меню недопустимо: попытка библиотекаря открыть сценарий назначения инженера блокируется на уровне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checkPermission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448800" y="4929188"/>
            <a:ext cx="2030313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9448800" y="4314825"/>
            <a:ext cx="2030313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9639300" y="4486275"/>
            <a:ext cx="17255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79113" y="4929188"/>
            <a:ext cx="5665887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79113" y="4314825"/>
            <a:ext cx="5665887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11669613" y="4486275"/>
            <a:ext cx="54548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меню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48800" y="5757863"/>
            <a:ext cx="2030313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2" name="Text 20"/>
          <p:cNvSpPr/>
          <p:nvPr/>
        </p:nvSpPr>
        <p:spPr>
          <a:xfrm>
            <a:off x="9639300" y="5053013"/>
            <a:ext cx="172551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79113" y="5757863"/>
            <a:ext cx="566588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4" name="Text 22"/>
          <p:cNvSpPr/>
          <p:nvPr/>
        </p:nvSpPr>
        <p:spPr>
          <a:xfrm>
            <a:off x="11669613" y="5053013"/>
            <a:ext cx="545486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заявку · Мои заявки · Закрыть заявку · AI-чат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48800" y="6291263"/>
            <a:ext cx="2030313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6" name="Text 24"/>
          <p:cNvSpPr/>
          <p:nvPr/>
        </p:nvSpPr>
        <p:spPr>
          <a:xfrm>
            <a:off x="9639300" y="5881688"/>
            <a:ext cx="1725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79113" y="6291263"/>
            <a:ext cx="566588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8" name="Text 26"/>
          <p:cNvSpPr/>
          <p:nvPr/>
        </p:nvSpPr>
        <p:spPr>
          <a:xfrm>
            <a:off x="11669613" y="5881688"/>
            <a:ext cx="54548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Назначенные мне · Закрыть заявку · AI-чат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48800" y="7119938"/>
            <a:ext cx="2030313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0" name="Text 28"/>
          <p:cNvSpPr/>
          <p:nvPr/>
        </p:nvSpPr>
        <p:spPr>
          <a:xfrm>
            <a:off x="9639300" y="6415088"/>
            <a:ext cx="172551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79113" y="7119938"/>
            <a:ext cx="5665887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2" name="Text 30"/>
          <p:cNvSpPr/>
          <p:nvPr/>
        </p:nvSpPr>
        <p:spPr>
          <a:xfrm>
            <a:off x="11669613" y="6415088"/>
            <a:ext cx="545486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инженера · Все заявки · Регистрация сотрудника · AI-чат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48800" y="7943850"/>
            <a:ext cx="2030313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9639300" y="7243763"/>
            <a:ext cx="1725513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Root-администратор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479113" y="7943850"/>
            <a:ext cx="5665887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11669613" y="7243763"/>
            <a:ext cx="5454863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набор + регистрация администраторов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43000" y="9544050"/>
            <a:ext cx="55737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telebot v4 · Handler.handleText → PendingAction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332720" y="9544050"/>
            <a:ext cx="18884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Реализация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036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78459" y="419100"/>
            <a:ext cx="26435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14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ПО ОДНОРАЗОВОМУ ПАРОЛЮ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Регистрация в два этапа разными лицами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143000" y="3171825"/>
            <a:ext cx="217170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Этап I · администратор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467100" y="2962275"/>
            <a:ext cx="4457700" cy="1609725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2838" y="3128963"/>
            <a:ext cx="4208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2838" y="3509963"/>
            <a:ext cx="298070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Вводит email и роль нового сотрудника в боте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77200" y="2962275"/>
            <a:ext cx="4457700" cy="1609725"/>
          </a:xfrm>
          <a:prstGeom prst="rect">
            <a:avLst/>
          </a:prstGeom>
          <a:solidFill>
            <a:srgbClr val="1A3A6E"/>
          </a:solidFill>
          <a:ln w="14288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2938" y="3128963"/>
            <a:ext cx="4208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FFFFFF">
                    <a:alpha val="7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62938" y="3509963"/>
            <a:ext cx="4004511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генерирует случайный пароль, хеширует bcrypt, сохраняет в passwords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687300" y="2962275"/>
            <a:ext cx="4457700" cy="1609725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73038" y="3128963"/>
            <a:ext cx="4208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73038" y="3509963"/>
            <a:ext cx="4057167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пароль возвращается администратору и передаётся сотруднику внутренними средствами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933950"/>
            <a:ext cx="217170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Этап II · сотрудник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467100" y="4724400"/>
            <a:ext cx="4457700" cy="1609725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2838" y="4891088"/>
            <a:ext cx="4208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2838" y="5272088"/>
            <a:ext cx="10096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47716" y="5253038"/>
            <a:ext cx="8991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2838" y="5272088"/>
            <a:ext cx="398439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бот спрашивает email и одноразовый пароль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77200" y="4724400"/>
            <a:ext cx="4457700" cy="1609725"/>
          </a:xfrm>
          <a:prstGeom prst="rect">
            <a:avLst/>
          </a:prstGeom>
          <a:solidFill>
            <a:srgbClr val="1A3A6E"/>
          </a:solidFill>
          <a:ln w="14288">
            <a:solidFill>
              <a:srgbClr val="1A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2938" y="4891088"/>
            <a:ext cx="4208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FFFFFF">
                    <a:alpha val="7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62938" y="5272088"/>
            <a:ext cx="3554289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проверяет хеш bcrypt, что пароль не использован, удаляет запись из passwords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687300" y="4724400"/>
            <a:ext cx="4457700" cy="1609725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73038" y="4891088"/>
            <a:ext cx="4208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73038" y="5272088"/>
            <a:ext cx="325513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Создаётся запись в users с telegram_id; в дальнейшем — идентификация без ввода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7381875"/>
            <a:ext cx="5029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6943725"/>
            <a:ext cx="5180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ПРЕИМУЩЕСТВО 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7620000"/>
            <a:ext cx="518007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пароль присутствует только в момент передачи и не хранится после первого использования.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629400" y="7381875"/>
            <a:ext cx="5029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6943725"/>
            <a:ext cx="5180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ПРЕИМУЩЕСТВО 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29400" y="7620000"/>
            <a:ext cx="518007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не вводит пароль при каждом обращении: идентификация — на уровне Telegram.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2115800" y="7381875"/>
            <a:ext cx="5029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Text 33"/>
          <p:cNvSpPr/>
          <p:nvPr/>
        </p:nvSpPr>
        <p:spPr>
          <a:xfrm>
            <a:off x="12115800" y="6943725"/>
            <a:ext cx="5180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ПРЕИМУЩЕСТВО 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115800" y="7620000"/>
            <a:ext cx="518007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Привязка email → TelegramID исключает работу под чужой учётной записью.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43000" y="9544050"/>
            <a:ext cx="77886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· одноразовое использование · фиксация в passwords.used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332720" y="9544050"/>
            <a:ext cx="18884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Реализация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036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90663" y="419100"/>
            <a:ext cx="26309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15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РАЗВЁРТЫВАНИЯ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 Compose · единый скрипт развёртывания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2733675"/>
            <a:ext cx="5181600" cy="1905000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5888" y="2957513"/>
            <a:ext cx="4836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· master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5888" y="3357563"/>
            <a:ext cx="4836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postgresql-master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85888" y="3786188"/>
            <a:ext cx="4836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экземпляр PostgreSQL, принимает запись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53200" y="2733675"/>
            <a:ext cx="5181600" cy="1905000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6088" y="2957513"/>
            <a:ext cx="4836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· slave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96088" y="3357563"/>
            <a:ext cx="4836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postgresql-slave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796088" y="3786188"/>
            <a:ext cx="4836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Реплика для отказоустойчивости и потенциального чтения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963400" y="2733675"/>
            <a:ext cx="5181600" cy="1905000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06288" y="2957513"/>
            <a:ext cx="4836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206288" y="3357563"/>
            <a:ext cx="4836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db-migrations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206288" y="3786188"/>
            <a:ext cx="4836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Однократно накатывает SQL-миграции утилитой goose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867275"/>
            <a:ext cx="5181600" cy="1905000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5888" y="5091113"/>
            <a:ext cx="4836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· core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85888" y="5491163"/>
            <a:ext cx="4836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helperbot-core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85888" y="5919788"/>
            <a:ext cx="4836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Серверное ядро — gRPC-сервер + REST-шлюз grpc-gateway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53200" y="4867275"/>
            <a:ext cx="5181600" cy="1905000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6088" y="5091113"/>
            <a:ext cx="4836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· client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96088" y="5491163"/>
            <a:ext cx="4836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helperbot-tg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796088" y="5919788"/>
            <a:ext cx="4836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Telegram-клиент, общается с ядром по gRPC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963400" y="4867275"/>
            <a:ext cx="5181600" cy="1905000"/>
          </a:xfrm>
          <a:prstGeom prst="rect">
            <a:avLst/>
          </a:prstGeom>
          <a:solidFill>
            <a:srgbClr val="F5F2EC"/>
          </a:solidFill>
          <a:ln w="14288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06288" y="5091113"/>
            <a:ext cx="4836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06288" y="5491163"/>
            <a:ext cx="4836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helperbot-ai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206288" y="5919788"/>
            <a:ext cx="4836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AI-сервис, подключается по gRPC-контракту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77438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73056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МНОГОСТУПЕНЧАТЫЕ ОБРАЗЫ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7981950"/>
            <a:ext cx="792708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—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golang:alpine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рантайм —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alpine:latest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Финальный образ содержит только бинарный файл; компилятор, исходный код и сборочные артефакты исключены.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48800" y="7743825"/>
            <a:ext cx="7696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4" name="Text 32"/>
          <p:cNvSpPr/>
          <p:nvPr/>
        </p:nvSpPr>
        <p:spPr>
          <a:xfrm>
            <a:off x="9448800" y="7305675"/>
            <a:ext cx="792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ДВУМЯ КОМАНДАМИ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448800" y="7981950"/>
            <a:ext cx="792708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.env.helperbot-* $ make compose-up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48800" y="8743950"/>
            <a:ext cx="79270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Поверх docker-compose реализован Makefile (репозиторий helperbot-infrastructure).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43000" y="9544050"/>
            <a:ext cx="58870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сервере организации требуется только Docker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332720" y="9544050"/>
            <a:ext cx="18884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Реализация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3036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ЧАСТЬ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84561" y="419100"/>
            <a:ext cx="26372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16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СИСТЕМЫ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Ручное сценарное тестирование по всем ролям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143000" y="2886075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Таблица 3 — состав проверенных сценариев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3967163"/>
            <a:ext cx="640080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352800"/>
            <a:ext cx="64008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524250"/>
            <a:ext cx="62118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967163"/>
            <a:ext cx="352038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3352800"/>
            <a:ext cx="352038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7734300" y="3524250"/>
            <a:ext cx="324499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064180" y="3967163"/>
            <a:ext cx="6080820" cy="9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64180" y="3352800"/>
            <a:ext cx="608082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1254680" y="3524250"/>
            <a:ext cx="58822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4500563"/>
            <a:ext cx="64008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4090987"/>
            <a:ext cx="62118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сотрудника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43800" y="450056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19" name="Text 17"/>
          <p:cNvSpPr/>
          <p:nvPr/>
        </p:nvSpPr>
        <p:spPr>
          <a:xfrm>
            <a:off x="7734300" y="4090987"/>
            <a:ext cx="3244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librarian / engineer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064180" y="4500563"/>
            <a:ext cx="608082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1" name="Text 19"/>
          <p:cNvSpPr/>
          <p:nvPr/>
        </p:nvSpPr>
        <p:spPr>
          <a:xfrm>
            <a:off x="11254680" y="4090987"/>
            <a:ext cx="5882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users, удаление пароля из passwords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033963"/>
            <a:ext cx="64008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4624388"/>
            <a:ext cx="62118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использование одноразового пароля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43800" y="503396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5" name="Text 23"/>
          <p:cNvSpPr/>
          <p:nvPr/>
        </p:nvSpPr>
        <p:spPr>
          <a:xfrm>
            <a:off x="7734300" y="4624388"/>
            <a:ext cx="3244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librarian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064180" y="5033963"/>
            <a:ext cx="608082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7" name="Text 25"/>
          <p:cNvSpPr/>
          <p:nvPr/>
        </p:nvSpPr>
        <p:spPr>
          <a:xfrm>
            <a:off x="11254680" y="4624388"/>
            <a:ext cx="5882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ErrPasswordUsed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5567363"/>
            <a:ext cx="64008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" y="5157788"/>
            <a:ext cx="62118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типовой заявки и в свободной форме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543800" y="556736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1" name="Text 29"/>
          <p:cNvSpPr/>
          <p:nvPr/>
        </p:nvSpPr>
        <p:spPr>
          <a:xfrm>
            <a:off x="7734300" y="5157788"/>
            <a:ext cx="3244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librarian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064180" y="5567363"/>
            <a:ext cx="608082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3" name="Text 31"/>
          <p:cNvSpPr/>
          <p:nvPr/>
        </p:nvSpPr>
        <p:spPr>
          <a:xfrm>
            <a:off x="11254680" y="5157788"/>
            <a:ext cx="5882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со статусом created в requests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43000" y="6100763"/>
            <a:ext cx="64008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5" name="Text 33"/>
          <p:cNvSpPr/>
          <p:nvPr/>
        </p:nvSpPr>
        <p:spPr>
          <a:xfrm>
            <a:off x="1333500" y="5691188"/>
            <a:ext cx="62118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инженера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543800" y="610076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7" name="Text 35"/>
          <p:cNvSpPr/>
          <p:nvPr/>
        </p:nvSpPr>
        <p:spPr>
          <a:xfrm>
            <a:off x="7734300" y="5691188"/>
            <a:ext cx="3244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064180" y="6100763"/>
            <a:ext cx="608082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39" name="Text 37"/>
          <p:cNvSpPr/>
          <p:nvPr/>
        </p:nvSpPr>
        <p:spPr>
          <a:xfrm>
            <a:off x="11254680" y="5691188"/>
            <a:ext cx="5882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in_progress, engineer_id заполнен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43000" y="6634163"/>
            <a:ext cx="64008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1" name="Text 39"/>
          <p:cNvSpPr/>
          <p:nvPr/>
        </p:nvSpPr>
        <p:spPr>
          <a:xfrm>
            <a:off x="1333500" y="6224588"/>
            <a:ext cx="62118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назначенных заявок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543800" y="663416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3" name="Text 41"/>
          <p:cNvSpPr/>
          <p:nvPr/>
        </p:nvSpPr>
        <p:spPr>
          <a:xfrm>
            <a:off x="7734300" y="6224588"/>
            <a:ext cx="3244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1064180" y="6634163"/>
            <a:ext cx="608082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5" name="Text 43"/>
          <p:cNvSpPr/>
          <p:nvPr/>
        </p:nvSpPr>
        <p:spPr>
          <a:xfrm>
            <a:off x="11254680" y="6224588"/>
            <a:ext cx="5882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заявки, где engineer_id = current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43000" y="7167563"/>
            <a:ext cx="64008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7" name="Text 45"/>
          <p:cNvSpPr/>
          <p:nvPr/>
        </p:nvSpPr>
        <p:spPr>
          <a:xfrm>
            <a:off x="1333500" y="6757988"/>
            <a:ext cx="62118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Закрытие и отмена заявки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7543800" y="7167563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49" name="Text 47"/>
          <p:cNvSpPr/>
          <p:nvPr/>
        </p:nvSpPr>
        <p:spPr>
          <a:xfrm>
            <a:off x="7734300" y="6757988"/>
            <a:ext cx="32449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· admin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064180" y="7167563"/>
            <a:ext cx="608082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1" name="Text 49"/>
          <p:cNvSpPr/>
          <p:nvPr/>
        </p:nvSpPr>
        <p:spPr>
          <a:xfrm>
            <a:off x="11254680" y="6757988"/>
            <a:ext cx="5882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completed/deleted, заполнен closed_at / deleted_at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143000" y="7996237"/>
            <a:ext cx="640080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3" name="Text 51"/>
          <p:cNvSpPr/>
          <p:nvPr/>
        </p:nvSpPr>
        <p:spPr>
          <a:xfrm>
            <a:off x="1333500" y="7291388"/>
            <a:ext cx="621182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чужой операции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543800" y="7996237"/>
            <a:ext cx="352038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5" name="Text 53"/>
          <p:cNvSpPr/>
          <p:nvPr/>
        </p:nvSpPr>
        <p:spPr>
          <a:xfrm>
            <a:off x="7734300" y="7291388"/>
            <a:ext cx="324499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librarian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1064180" y="7996237"/>
            <a:ext cx="6080820" cy="9525"/>
          </a:xfrm>
          <a:prstGeom prst="rect">
            <a:avLst/>
          </a:prstGeom>
          <a:solidFill>
            <a:srgbClr val="E2DCCF"/>
          </a:solidFill>
          <a:ln/>
        </p:spPr>
      </p:sp>
      <p:sp>
        <p:nvSpPr>
          <p:cNvPr id="57" name="Text 55"/>
          <p:cNvSpPr/>
          <p:nvPr/>
        </p:nvSpPr>
        <p:spPr>
          <a:xfrm>
            <a:off x="11254680" y="7291388"/>
            <a:ext cx="588224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об отказе, ErrPermissionDenied в журнале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143000" y="8524875"/>
            <a:ext cx="64008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9" name="Text 57"/>
          <p:cNvSpPr/>
          <p:nvPr/>
        </p:nvSpPr>
        <p:spPr>
          <a:xfrm>
            <a:off x="1333500" y="8120063"/>
            <a:ext cx="621182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Перезапуск контейнеров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543800" y="8524875"/>
            <a:ext cx="352038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1" name="Text 59"/>
          <p:cNvSpPr/>
          <p:nvPr/>
        </p:nvSpPr>
        <p:spPr>
          <a:xfrm>
            <a:off x="7734300" y="8120063"/>
            <a:ext cx="32449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1064180" y="8524875"/>
            <a:ext cx="608082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3" name="Text 61"/>
          <p:cNvSpPr/>
          <p:nvPr/>
        </p:nvSpPr>
        <p:spPr>
          <a:xfrm>
            <a:off x="11254680" y="8120063"/>
            <a:ext cx="58822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заявок и учётные записи сохраняются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143000" y="8782050"/>
            <a:ext cx="147161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каждому сценарию контролировалось не только сообщение бота, но и состояние базы данных запросом SELECT. Автоматизированное покрытие сервисного слоя вынесено в дальнейшие задачи проекта.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143000" y="9544050"/>
            <a:ext cx="73189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среда · docker-compose с тестовой БД PostgreSQL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5332720" y="9544050"/>
            <a:ext cx="18884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Реализация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23208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97955" y="419100"/>
            <a:ext cx="262345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17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РАБОТЫ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работы достигнута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143000" y="3019425"/>
            <a:ext cx="838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133600" y="2962275"/>
            <a:ext cx="682828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Сравнительный анализ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33600" y="3400425"/>
            <a:ext cx="682828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Сопоставлены пять систем учёта заявок; обоснована целесообразность собственной разработки.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0" y="3019425"/>
            <a:ext cx="838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0515600" y="2962275"/>
            <a:ext cx="682828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и требования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0" y="3400425"/>
            <a:ext cx="682828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Сформулированы функциональные и нефункциональные требования. Спроектирована двухсервисная архитектура с gRPC.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857750"/>
            <a:ext cx="838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133600" y="4800600"/>
            <a:ext cx="682828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Серверное ядро на Go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33600" y="5238750"/>
            <a:ext cx="682828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Слоистая структура, репозитории на pgx, бизнес-логика с проверкой переходов, gRPC + REST-шлюз grpc-gateway, сборка через uber-go/fx.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0" y="4857750"/>
            <a:ext cx="838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0515600" y="4800600"/>
            <a:ext cx="682828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Telegram-клиент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0" y="5238750"/>
            <a:ext cx="682828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Многошаговые диалоги с TTL-кэшем состояний, динамические ролевые меню, аутентификация по одноразовому паролю.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6696075"/>
            <a:ext cx="838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2133600" y="6638925"/>
            <a:ext cx="682828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Инфраструктура развёртывания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133600" y="7077075"/>
            <a:ext cx="682828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PostgreSQL master–slave, миграции goose, многоступенчатые образы Alpine, Makefile поверх docker-compose.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0" y="6696075"/>
            <a:ext cx="838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VI.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0515600" y="6638925"/>
            <a:ext cx="682828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Сценарное тестирование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515600" y="7077075"/>
            <a:ext cx="682828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Проверены ключевые сценарии каждой роли с контролем как поведения бота, так и состояния базы данных.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9544050"/>
            <a:ext cx="82746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применим в ЦБС без приобретения коммерческих лицензий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93727" y="9544050"/>
            <a:ext cx="19274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Заключение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9100"/>
            <a:ext cx="23208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144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84561" y="419100"/>
            <a:ext cx="26372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HELPERBOT · 18 /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9525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288" kern="0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 РАЗВИТИЯ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04950"/>
            <a:ext cx="164820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22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Дальнейшие направления развития комплекса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2886075"/>
            <a:ext cx="19050" cy="116205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7" name="Text 5"/>
          <p:cNvSpPr/>
          <p:nvPr/>
        </p:nvSpPr>
        <p:spPr>
          <a:xfrm>
            <a:off x="1466850" y="2924175"/>
            <a:ext cx="751503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Веб-интерфейс администратора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6850" y="3381375"/>
            <a:ext cx="75150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через имеющийся REST-шлюз grpc-gateway — без изменений в бизнес-логике ядра.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0" y="2886075"/>
            <a:ext cx="19050" cy="116205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0" name="Text 8"/>
          <p:cNvSpPr/>
          <p:nvPr/>
        </p:nvSpPr>
        <p:spPr>
          <a:xfrm>
            <a:off x="9848850" y="2924175"/>
            <a:ext cx="751503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Автоматизированное тестирование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48850" y="3381375"/>
            <a:ext cx="75150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сервисного слоя ядра юнит- и интеграционными тестами; первый кандидат — методы Create, Update, Close, Delete.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4429125"/>
            <a:ext cx="19050" cy="116205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1466850" y="4467225"/>
            <a:ext cx="751503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Расширенная интеграция с helperbot-ai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6850" y="4924425"/>
            <a:ext cx="75150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Справочные ответы и рекомендации литературы сотрудникам ЦБС через внешний AI-сервис.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0" y="4429125"/>
            <a:ext cx="19050" cy="116205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9848850" y="4467225"/>
            <a:ext cx="751503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Клиент для мессенджера Max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848850" y="4924425"/>
            <a:ext cx="75150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канал связи поверх существующего gRPC-контракта — без переработки доменной логики.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6353175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Принятый в работе подход к разделению ядра и клиентских приложений может быть повторён для аналогичных задач учёта обращений в других бюджетных учреждениях.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43000" y="9544050"/>
            <a:ext cx="71779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клиентов — без изменений в доменной логике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293727" y="9544050"/>
            <a:ext cx="19274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C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Заключение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024062"/>
            <a:ext cx="7448659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0" b="1" spc="-158" kern="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Благодарю </a:t>
            </a:r>
            <a:pPr algn="l" indent="0" marL="0">
              <a:lnSpc>
                <a:spcPct val="102000"/>
              </a:lnSpc>
              <a:buNone/>
            </a:pPr>
            <a:r>
              <a:rPr lang="en-US" sz="10500" i="1" spc="-158" kern="0" dirty="0">
                <a:solidFill>
                  <a:srgbClr val="1A3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 внимание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143000" y="5186363"/>
            <a:ext cx="117729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3000" i="1" dirty="0">
                <a:solidFill>
                  <a:srgbClr val="6B6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Доклад окончен. Готов ответить на вопросы членов аттестационной комиссии.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7434263"/>
            <a:ext cx="1762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7853362"/>
            <a:ext cx="1762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Суворов Р. М.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590925" y="7434263"/>
            <a:ext cx="223554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90925" y="7853362"/>
            <a:ext cx="223554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доц. Жуков Н. Н.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512272" y="7434263"/>
            <a:ext cx="29872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И ГОД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12272" y="7853362"/>
            <a:ext cx="29872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Санкт-Петербург · 2026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2026-05-23T20:09:15Z</dcterms:created>
  <dcterms:modified xsi:type="dcterms:W3CDTF">2026-05-23T20:09:15Z</dcterms:modified>
</cp:coreProperties>
</file>